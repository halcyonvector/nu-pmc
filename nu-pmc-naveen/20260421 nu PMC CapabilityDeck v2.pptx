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eckv2_bg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eckv2_bg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eckv2_bg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63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" y="128016"/>
            <a:ext cx="4572000" cy="8046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Dashboard — Action Centre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" y="969264"/>
            <a:ext cx="4480560" cy="42062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1">
                <a:solidFill>
                  <a:srgbClr val="9AAABA"/>
                </a:solidFill>
                <a:latin typeface="Calibri"/>
              </a:rPr>
              <a:t>Every person sees only what they need to act on — filtered by role, project, and urgency.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" y="1463040"/>
            <a:ext cx="4434840" cy="36576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r>
              <a:rPr sz="1000">
                <a:solidFill>
                  <a:srgbClr val="9AAABA"/>
                </a:solidFill>
                <a:latin typeface="Calibri"/>
              </a:rPr>
              <a:t>• Red items demand action today — overdue reports, unanswered drawing queries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" y="1810512"/>
            <a:ext cx="4434840" cy="36576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r>
              <a:rPr sz="1000">
                <a:solidFill>
                  <a:srgbClr val="9AAABA"/>
                </a:solidFill>
                <a:latin typeface="Calibri"/>
              </a:rPr>
              <a:t>• Amber items need attention this week — pending approvals, open flags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" y="2157984"/>
            <a:ext cx="4434840" cy="36576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r>
              <a:rPr sz="1000">
                <a:solidFill>
                  <a:srgbClr val="9AAABA"/>
                </a:solidFill>
                <a:latin typeface="Calibri"/>
              </a:rPr>
              <a:t>• Blue items are in motion — CN signatures being collected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" y="2505456"/>
            <a:ext cx="4434840" cy="36576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r>
              <a:rPr sz="1000">
                <a:solidFill>
                  <a:srgbClr val="9AAABA"/>
                </a:solidFill>
                <a:latin typeface="Calibri"/>
              </a:rPr>
              <a:t>• Each item deep-links directly to the affected record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" y="2852927"/>
            <a:ext cx="4434840" cy="36576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r>
              <a:rPr sz="1000">
                <a:solidFill>
                  <a:srgbClr val="9AAABA"/>
                </a:solidFill>
                <a:latin typeface="Calibri"/>
              </a:rPr>
              <a:t>• Separate dashboard for each role: site, design, finance, PMC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50992" y="283464"/>
            <a:ext cx="3255264" cy="4645152"/>
          </a:xfrm>
          <a:prstGeom prst="rect">
            <a:avLst/>
          </a:prstGeom>
          <a:solidFill>
            <a:srgbClr val="F4F6F9"/>
          </a:solidFill>
          <a:ln w="635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87568" y="320040"/>
            <a:ext cx="3182112" cy="4572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87568" y="320040"/>
            <a:ext cx="3182112" cy="384048"/>
          </a:xfrm>
          <a:prstGeom prst="rect">
            <a:avLst/>
          </a:prstGeom>
          <a:solidFill>
            <a:srgbClr val="1D3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97296" y="393192"/>
            <a:ext cx="2999232" cy="25603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⬛  Action Centre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87568" y="704088"/>
            <a:ext cx="1024127" cy="438912"/>
          </a:xfrm>
          <a:prstGeom prst="rect">
            <a:avLst/>
          </a:prstGeom>
          <a:solidFill>
            <a:srgbClr val="E8E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24144" y="722376"/>
            <a:ext cx="950976" cy="219456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800" b="1" i="0">
                <a:solidFill>
                  <a:srgbClr val="B07D1A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24144" y="941832"/>
            <a:ext cx="950976" cy="16459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800" b="0" i="0">
                <a:solidFill>
                  <a:srgbClr val="657B90"/>
                </a:solidFill>
                <a:latin typeface="Calibri"/>
              </a:rPr>
              <a:t>Overdue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748272" y="704088"/>
            <a:ext cx="1024127" cy="438912"/>
          </a:xfrm>
          <a:prstGeom prst="rect">
            <a:avLst/>
          </a:prstGeom>
          <a:solidFill>
            <a:srgbClr val="E8E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4848" y="722376"/>
            <a:ext cx="950976" cy="219456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800" b="1" i="0">
                <a:solidFill>
                  <a:srgbClr val="B07D1A"/>
                </a:solidFill>
                <a:latin typeface="Calibri"/>
              </a:rPr>
              <a:t>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84848" y="941832"/>
            <a:ext cx="950976" cy="16459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800" b="0" i="0">
                <a:solidFill>
                  <a:srgbClr val="657B90"/>
                </a:solidFill>
                <a:latin typeface="Calibri"/>
              </a:rPr>
              <a:t>Pending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808975" y="704088"/>
            <a:ext cx="1024127" cy="438912"/>
          </a:xfrm>
          <a:prstGeom prst="rect">
            <a:avLst/>
          </a:prstGeom>
          <a:solidFill>
            <a:srgbClr val="E8E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45551" y="722376"/>
            <a:ext cx="950976" cy="219456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800" b="1" i="0">
                <a:solidFill>
                  <a:srgbClr val="B07D1A"/>
                </a:solidFill>
                <a:latin typeface="Calibri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45551" y="941832"/>
            <a:ext cx="950976" cy="16459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800" b="0" i="0">
                <a:solidFill>
                  <a:srgbClr val="657B90"/>
                </a:solidFill>
                <a:latin typeface="Calibri"/>
              </a:rPr>
              <a:t>Alerts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87568" y="1179576"/>
            <a:ext cx="3182112" cy="21945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797296" y="1243584"/>
            <a:ext cx="73152" cy="73152"/>
          </a:xfrm>
          <a:prstGeom prst="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33872" y="1207008"/>
            <a:ext cx="2999232" cy="16459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800" b="1" i="0">
                <a:solidFill>
                  <a:srgbClr val="657B90"/>
                </a:solidFill>
                <a:latin typeface="Calibri"/>
              </a:rPr>
              <a:t>  REQUIRES ACTION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87568" y="1389888"/>
            <a:ext cx="3182112" cy="9144"/>
          </a:xfrm>
          <a:prstGeom prst="rect">
            <a:avLst/>
          </a:prstGeom>
          <a:solidFill>
            <a:srgbClr val="DE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687568" y="1417320"/>
            <a:ext cx="3182112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687568" y="1883664"/>
            <a:ext cx="3182112" cy="9144"/>
          </a:xfrm>
          <a:prstGeom prst="rect">
            <a:avLst/>
          </a:prstGeom>
          <a:solidFill>
            <a:srgbClr val="DE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815583" y="1453896"/>
            <a:ext cx="2163836" cy="201168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000" b="1" i="0">
                <a:solidFill>
                  <a:srgbClr val="1D3D62"/>
                </a:solidFill>
                <a:latin typeface="Calibri"/>
              </a:rPr>
              <a:t>Drawing queries — overdue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15583" y="1655064"/>
            <a:ext cx="2163836" cy="16459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800" b="0" i="0">
                <a:solidFill>
                  <a:srgbClr val="657B90"/>
                </a:solidFill>
                <a:latin typeface="Calibri"/>
              </a:rPr>
              <a:t>4 unanswered 3+ days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28431" y="1527048"/>
            <a:ext cx="749808" cy="237744"/>
          </a:xfrm>
          <a:prstGeom prst="rect">
            <a:avLst/>
          </a:prstGeom>
          <a:solidFill>
            <a:srgbClr val="FDECEA"/>
          </a:solidFill>
          <a:ln w="635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28431" y="1527048"/>
            <a:ext cx="749808" cy="237744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800" b="1" i="0">
                <a:solidFill>
                  <a:srgbClr val="CC3333"/>
                </a:solidFill>
                <a:latin typeface="Calibri"/>
              </a:rPr>
              <a:t>4 OPEN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87568" y="1892808"/>
            <a:ext cx="3182112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687568" y="2359152"/>
            <a:ext cx="3182112" cy="9144"/>
          </a:xfrm>
          <a:prstGeom prst="rect">
            <a:avLst/>
          </a:prstGeom>
          <a:solidFill>
            <a:srgbClr val="DE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815583" y="1929384"/>
            <a:ext cx="2163836" cy="201168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000" b="1" i="0">
                <a:solidFill>
                  <a:srgbClr val="1D3D62"/>
                </a:solidFill>
                <a:latin typeface="Calibri"/>
              </a:rPr>
              <a:t>NCR — Site quality issue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15583" y="2130552"/>
            <a:ext cx="2163836" cy="16459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800" b="0" i="0">
                <a:solidFill>
                  <a:srgbClr val="657B90"/>
                </a:solidFill>
                <a:latin typeface="Calibri"/>
              </a:rPr>
              <a:t>GRN-024, Block A slab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28431" y="2002536"/>
            <a:ext cx="749808" cy="237744"/>
          </a:xfrm>
          <a:prstGeom prst="rect">
            <a:avLst/>
          </a:prstGeom>
          <a:solidFill>
            <a:srgbClr val="FDECEA"/>
          </a:solidFill>
          <a:ln w="635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28431" y="2002536"/>
            <a:ext cx="749808" cy="237744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800" b="1" i="0">
                <a:solidFill>
                  <a:srgbClr val="CC3333"/>
                </a:solidFill>
                <a:latin typeface="Calibri"/>
              </a:rPr>
              <a:t>OPEN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687568" y="2368296"/>
            <a:ext cx="3182112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687568" y="2834640"/>
            <a:ext cx="3182112" cy="9144"/>
          </a:xfrm>
          <a:prstGeom prst="rect">
            <a:avLst/>
          </a:prstGeom>
          <a:solidFill>
            <a:srgbClr val="DE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815583" y="2404872"/>
            <a:ext cx="2163836" cy="201168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000" b="1" i="0">
                <a:solidFill>
                  <a:srgbClr val="1D3D62"/>
                </a:solidFill>
                <a:latin typeface="Calibri"/>
              </a:rPr>
              <a:t>Materials overdue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15583" y="2606040"/>
            <a:ext cx="2163836" cy="16459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800" b="0" i="0">
                <a:solidFill>
                  <a:srgbClr val="657B90"/>
                </a:solidFill>
                <a:latin typeface="Calibri"/>
              </a:rPr>
              <a:t>3 items past needed-by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28431" y="2478024"/>
            <a:ext cx="749808" cy="237744"/>
          </a:xfrm>
          <a:prstGeom prst="rect">
            <a:avLst/>
          </a:prstGeom>
          <a:solidFill>
            <a:srgbClr val="FDECEA"/>
          </a:solidFill>
          <a:ln w="635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28431" y="2478024"/>
            <a:ext cx="749808" cy="237744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800" b="1" i="0">
                <a:solidFill>
                  <a:srgbClr val="CC3333"/>
                </a:solidFill>
                <a:latin typeface="Calibri"/>
              </a:rPr>
              <a:t>3 LATE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687568" y="2843784"/>
            <a:ext cx="3182112" cy="21945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797296" y="2907792"/>
            <a:ext cx="73152" cy="73152"/>
          </a:xfrm>
          <a:prstGeom prst="rect">
            <a:avLst/>
          </a:prstGeom>
          <a:solidFill>
            <a:srgbClr val="B07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833872" y="2871216"/>
            <a:ext cx="2999232" cy="16459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800" b="1" i="0">
                <a:solidFill>
                  <a:srgbClr val="657B90"/>
                </a:solidFill>
                <a:latin typeface="Calibri"/>
              </a:rPr>
              <a:t>  THIS WEEK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687568" y="3054096"/>
            <a:ext cx="3182112" cy="9144"/>
          </a:xfrm>
          <a:prstGeom prst="rect">
            <a:avLst/>
          </a:prstGeom>
          <a:solidFill>
            <a:srgbClr val="DE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687568" y="3081528"/>
            <a:ext cx="3182112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687568" y="3547872"/>
            <a:ext cx="3182112" cy="9144"/>
          </a:xfrm>
          <a:prstGeom prst="rect">
            <a:avLst/>
          </a:prstGeom>
          <a:solidFill>
            <a:srgbClr val="DE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815583" y="3118104"/>
            <a:ext cx="2163836" cy="201168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000" b="1" i="0">
                <a:solidFill>
                  <a:srgbClr val="1D3D62"/>
                </a:solidFill>
                <a:latin typeface="Calibri"/>
              </a:rPr>
              <a:t>Approvals pending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815583" y="3319272"/>
            <a:ext cx="2163836" cy="16459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800" b="0" i="0">
                <a:solidFill>
                  <a:srgbClr val="657B90"/>
                </a:solidFill>
                <a:latin typeface="Calibri"/>
              </a:rPr>
              <a:t>2 awaiting Principal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028431" y="3191256"/>
            <a:ext cx="749808" cy="237744"/>
          </a:xfrm>
          <a:prstGeom prst="rect">
            <a:avLst/>
          </a:prstGeom>
          <a:solidFill>
            <a:srgbClr val="FBF3E1"/>
          </a:solidFill>
          <a:ln w="635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028431" y="3191256"/>
            <a:ext cx="749808" cy="237744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800" b="1" i="0">
                <a:solidFill>
                  <a:srgbClr val="B07D1A"/>
                </a:solidFill>
                <a:latin typeface="Calibri"/>
              </a:rPr>
              <a:t>PENDING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687568" y="3557016"/>
            <a:ext cx="3182112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687568" y="4023360"/>
            <a:ext cx="3182112" cy="9144"/>
          </a:xfrm>
          <a:prstGeom prst="rect">
            <a:avLst/>
          </a:prstGeom>
          <a:solidFill>
            <a:srgbClr val="DE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815583" y="3593592"/>
            <a:ext cx="2163836" cy="201168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000" b="1" i="0">
                <a:solidFill>
                  <a:srgbClr val="1D3D62"/>
                </a:solidFill>
                <a:latin typeface="Calibri"/>
              </a:rPr>
              <a:t>Weekly report approved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815583" y="3794760"/>
            <a:ext cx="2163836" cy="16459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800" b="0" i="0">
                <a:solidFill>
                  <a:srgbClr val="657B90"/>
                </a:solidFill>
                <a:latin typeface="Calibri"/>
              </a:rPr>
              <a:t>Wk 14 — WESCH Phase 01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028431" y="3666744"/>
            <a:ext cx="749808" cy="237744"/>
          </a:xfrm>
          <a:prstGeom prst="rect">
            <a:avLst/>
          </a:prstGeom>
          <a:solidFill>
            <a:srgbClr val="EBF7F1"/>
          </a:solidFill>
          <a:ln w="635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028431" y="3666744"/>
            <a:ext cx="749808" cy="237744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800" b="1" i="0">
                <a:solidFill>
                  <a:srgbClr val="1A6B3C"/>
                </a:solidFill>
                <a:latin typeface="Calibri"/>
              </a:rPr>
              <a:t>DONE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63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" y="128016"/>
            <a:ext cx="4572000" cy="8046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Drawings — Two-level approval, no shortcuts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" y="969264"/>
            <a:ext cx="4480560" cy="42062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1">
                <a:solidFill>
                  <a:srgbClr val="9AAABA"/>
                </a:solidFill>
                <a:latin typeface="Calibri"/>
              </a:rPr>
              <a:t>Every drawing revision goes through the same gate before reaching site.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39" y="1463040"/>
            <a:ext cx="713232" cy="457200"/>
          </a:xfrm>
          <a:prstGeom prst="rect">
            <a:avLst/>
          </a:prstGeom>
          <a:solidFill>
            <a:srgbClr val="1D3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39" y="1499616"/>
            <a:ext cx="713232" cy="246888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Upload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39" y="1719072"/>
            <a:ext cx="713232" cy="1828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700" b="0" i="0">
                <a:solidFill>
                  <a:srgbClr val="9AAABA"/>
                </a:solidFill>
                <a:latin typeface="Calibri"/>
              </a:rPr>
              <a:t>Architect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99616" y="1554480"/>
            <a:ext cx="164592" cy="2743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400" b="1" i="0">
                <a:solidFill>
                  <a:srgbClr val="C9A84C"/>
                </a:solidFill>
                <a:latin typeface="Calibri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55063" y="1463040"/>
            <a:ext cx="713232" cy="457200"/>
          </a:xfrm>
          <a:prstGeom prst="rect">
            <a:avLst/>
          </a:prstGeom>
          <a:solidFill>
            <a:srgbClr val="1D3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55063" y="1499616"/>
            <a:ext cx="713232" cy="246888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L1 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5063" y="1719072"/>
            <a:ext cx="713232" cy="1828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700" b="0" i="0">
                <a:solidFill>
                  <a:srgbClr val="9AAABA"/>
                </a:solidFill>
                <a:latin typeface="Calibri"/>
              </a:rPr>
              <a:t>Detailing / Svc head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39" y="1554480"/>
            <a:ext cx="164592" cy="2743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400" b="1" i="0">
                <a:solidFill>
                  <a:srgbClr val="C9A84C"/>
                </a:solidFill>
                <a:latin typeface="Calibr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32887" y="1463040"/>
            <a:ext cx="713232" cy="457200"/>
          </a:xfrm>
          <a:prstGeom prst="rect">
            <a:avLst/>
          </a:prstGeom>
          <a:solidFill>
            <a:srgbClr val="1D3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32887" y="1499616"/>
            <a:ext cx="713232" cy="246888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L2 Approve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32887" y="1719072"/>
            <a:ext cx="713232" cy="1828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700" b="0" i="0">
                <a:solidFill>
                  <a:srgbClr val="9AAABA"/>
                </a:solidFill>
                <a:latin typeface="Calibri"/>
              </a:rPr>
              <a:t>Principal / Design head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55263" y="1554480"/>
            <a:ext cx="164592" cy="2743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400" b="1" i="0">
                <a:solidFill>
                  <a:srgbClr val="C9A84C"/>
                </a:solidFill>
                <a:latin typeface="Calibri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10711" y="1463040"/>
            <a:ext cx="713232" cy="457200"/>
          </a:xfrm>
          <a:prstGeom prst="rect">
            <a:avLst/>
          </a:prstGeom>
          <a:solidFill>
            <a:srgbClr val="1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10711" y="1499616"/>
            <a:ext cx="713232" cy="246888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Issued 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10711" y="1719072"/>
            <a:ext cx="713232" cy="1828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700" b="0" i="0">
                <a:solidFill>
                  <a:srgbClr val="9AAABA"/>
                </a:solidFill>
                <a:latin typeface="Calibri"/>
              </a:rPr>
              <a:t>Site can build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2084831"/>
            <a:ext cx="4434840" cy="36576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r>
              <a:rPr sz="1000">
                <a:solidFill>
                  <a:srgbClr val="9AAABA"/>
                </a:solidFill>
                <a:latin typeface="Calibri"/>
              </a:rPr>
              <a:t>• Reject path sends drawing back with comments — no revision silently dropped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2432303"/>
            <a:ext cx="4434840" cy="36576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r>
              <a:rPr sz="1000">
                <a:solidFill>
                  <a:srgbClr val="9AAABA"/>
                </a:solidFill>
                <a:latin typeface="Calibri"/>
              </a:rPr>
              <a:t>• Superseded revisions locked — site cannot act on outdated drawings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2779775"/>
            <a:ext cx="4434840" cy="36576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r>
              <a:rPr sz="1000">
                <a:solidFill>
                  <a:srgbClr val="9AAABA"/>
                </a:solidFill>
                <a:latin typeface="Calibri"/>
              </a:rPr>
              <a:t>• Every approval records who, when, and from which IP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" y="3127247"/>
            <a:ext cx="4434840" cy="36576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r>
              <a:rPr sz="1000">
                <a:solidFill>
                  <a:srgbClr val="9AAABA"/>
                </a:solidFill>
                <a:latin typeface="Calibri"/>
              </a:rPr>
              <a:t>• Drawing queries raised against specific revision — linked, not lost in chat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" y="3474719"/>
            <a:ext cx="4434840" cy="36576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r>
              <a:rPr sz="1000">
                <a:solidFill>
                  <a:srgbClr val="9AAABA"/>
                </a:solidFill>
                <a:latin typeface="Calibri"/>
              </a:rPr>
              <a:t>• Query response triggers WhatsApp notification to the raising team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50992" y="283464"/>
            <a:ext cx="3255264" cy="4645152"/>
          </a:xfrm>
          <a:prstGeom prst="rect">
            <a:avLst/>
          </a:prstGeom>
          <a:solidFill>
            <a:srgbClr val="F4F6F9"/>
          </a:solidFill>
          <a:ln w="635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687568" y="320040"/>
            <a:ext cx="3182112" cy="4572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687568" y="320040"/>
            <a:ext cx="3182112" cy="384048"/>
          </a:xfrm>
          <a:prstGeom prst="rect">
            <a:avLst/>
          </a:prstGeom>
          <a:solidFill>
            <a:srgbClr val="1D3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97296" y="393192"/>
            <a:ext cx="2999232" cy="25603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📐  Drawings — WESCH Phase 01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87568" y="704088"/>
            <a:ext cx="3182112" cy="21945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797296" y="768096"/>
            <a:ext cx="73152" cy="73152"/>
          </a:xfrm>
          <a:prstGeom prst="rect">
            <a:avLst/>
          </a:prstGeom>
          <a:solidFill>
            <a:srgbClr val="1D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833872" y="731520"/>
            <a:ext cx="2999232" cy="16459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800" b="1" i="0">
                <a:solidFill>
                  <a:srgbClr val="657B90"/>
                </a:solidFill>
                <a:latin typeface="Calibri"/>
              </a:rPr>
              <a:t>  STRUCTURAL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87568" y="914400"/>
            <a:ext cx="3182112" cy="9144"/>
          </a:xfrm>
          <a:prstGeom prst="rect">
            <a:avLst/>
          </a:prstGeom>
          <a:solidFill>
            <a:srgbClr val="DE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687568" y="941832"/>
            <a:ext cx="3182112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687568" y="1408176"/>
            <a:ext cx="3182112" cy="9144"/>
          </a:xfrm>
          <a:prstGeom prst="rect">
            <a:avLst/>
          </a:prstGeom>
          <a:solidFill>
            <a:srgbClr val="DE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815583" y="978408"/>
            <a:ext cx="2163836" cy="201168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000" b="1" i="0">
                <a:solidFill>
                  <a:srgbClr val="1D3D62"/>
                </a:solidFill>
                <a:latin typeface="Calibri"/>
              </a:rPr>
              <a:t>WESCH-S-001  R3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15583" y="1179576"/>
            <a:ext cx="2163836" cy="16459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800" b="0" i="0">
                <a:solidFill>
                  <a:srgbClr val="657B90"/>
                </a:solidFill>
                <a:latin typeface="Calibri"/>
              </a:rPr>
              <a:t>RCC Column Grid A-F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28431" y="1051560"/>
            <a:ext cx="749808" cy="237744"/>
          </a:xfrm>
          <a:prstGeom prst="rect">
            <a:avLst/>
          </a:prstGeom>
          <a:solidFill>
            <a:srgbClr val="EBF7F1"/>
          </a:solidFill>
          <a:ln w="635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28431" y="1051560"/>
            <a:ext cx="749808" cy="237744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800" b="1" i="0">
                <a:solidFill>
                  <a:srgbClr val="1A6B3C"/>
                </a:solidFill>
                <a:latin typeface="Calibri"/>
              </a:rPr>
              <a:t>ISSUED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687568" y="1417320"/>
            <a:ext cx="3182112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687568" y="1883664"/>
            <a:ext cx="3182112" cy="9144"/>
          </a:xfrm>
          <a:prstGeom prst="rect">
            <a:avLst/>
          </a:prstGeom>
          <a:solidFill>
            <a:srgbClr val="DE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815583" y="1453896"/>
            <a:ext cx="2163836" cy="201168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000" b="1" i="0">
                <a:solidFill>
                  <a:srgbClr val="1D3D62"/>
                </a:solidFill>
                <a:latin typeface="Calibri"/>
              </a:rPr>
              <a:t>WESCH-S-002  R1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15583" y="1655064"/>
            <a:ext cx="2163836" cy="16459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800" b="0" i="0">
                <a:solidFill>
                  <a:srgbClr val="657B90"/>
                </a:solidFill>
                <a:latin typeface="Calibri"/>
              </a:rPr>
              <a:t>Awaiting: L2 approve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28431" y="1527048"/>
            <a:ext cx="749808" cy="237744"/>
          </a:xfrm>
          <a:prstGeom prst="rect">
            <a:avLst/>
          </a:prstGeom>
          <a:solidFill>
            <a:srgbClr val="FBF3E1"/>
          </a:solidFill>
          <a:ln w="635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28431" y="1527048"/>
            <a:ext cx="749808" cy="237744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800" b="1" i="0">
                <a:solidFill>
                  <a:srgbClr val="B07D1A"/>
                </a:solidFill>
                <a:latin typeface="Calibri"/>
              </a:rPr>
              <a:t>PENDING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687568" y="1892808"/>
            <a:ext cx="3182112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687568" y="2359152"/>
            <a:ext cx="3182112" cy="9144"/>
          </a:xfrm>
          <a:prstGeom prst="rect">
            <a:avLst/>
          </a:prstGeom>
          <a:solidFill>
            <a:srgbClr val="DE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815583" y="1929384"/>
            <a:ext cx="2163836" cy="201168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000" b="1" i="0">
                <a:solidFill>
                  <a:srgbClr val="1D3D62"/>
                </a:solidFill>
                <a:latin typeface="Calibri"/>
              </a:rPr>
              <a:t>WESCH-S-003  R0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15583" y="2130552"/>
            <a:ext cx="2163836" cy="16459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800" b="0" i="0">
                <a:solidFill>
                  <a:srgbClr val="657B90"/>
                </a:solidFill>
                <a:latin typeface="Calibri"/>
              </a:rPr>
              <a:t>Query open — Grid B offset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028431" y="2002536"/>
            <a:ext cx="749808" cy="237744"/>
          </a:xfrm>
          <a:prstGeom prst="rect">
            <a:avLst/>
          </a:prstGeom>
          <a:solidFill>
            <a:srgbClr val="E8F4FB"/>
          </a:solidFill>
          <a:ln w="635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028431" y="2002536"/>
            <a:ext cx="749808" cy="237744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800" b="1" i="0">
                <a:solidFill>
                  <a:srgbClr val="1D6FA8"/>
                </a:solidFill>
                <a:latin typeface="Calibri"/>
              </a:rPr>
              <a:t>QUERY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687568" y="2368296"/>
            <a:ext cx="3182112" cy="21945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797296" y="2432304"/>
            <a:ext cx="73152" cy="73152"/>
          </a:xfrm>
          <a:prstGeom prst="rect">
            <a:avLst/>
          </a:prstGeom>
          <a:solidFill>
            <a:srgbClr val="1D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833872" y="2395728"/>
            <a:ext cx="2999232" cy="16459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800" b="1" i="0">
                <a:solidFill>
                  <a:srgbClr val="657B90"/>
                </a:solidFill>
                <a:latin typeface="Calibri"/>
              </a:rPr>
              <a:t>  SERVICES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687568" y="2578608"/>
            <a:ext cx="3182112" cy="9144"/>
          </a:xfrm>
          <a:prstGeom prst="rect">
            <a:avLst/>
          </a:prstGeom>
          <a:solidFill>
            <a:srgbClr val="DE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687568" y="2606040"/>
            <a:ext cx="3182112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687568" y="3072384"/>
            <a:ext cx="3182112" cy="9144"/>
          </a:xfrm>
          <a:prstGeom prst="rect">
            <a:avLst/>
          </a:prstGeom>
          <a:solidFill>
            <a:srgbClr val="DE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815583" y="2642616"/>
            <a:ext cx="2163836" cy="201168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000" b="1" i="0">
                <a:solidFill>
                  <a:srgbClr val="1D3D62"/>
                </a:solidFill>
                <a:latin typeface="Calibri"/>
              </a:rPr>
              <a:t>WESCH-M-001  R2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815583" y="2843784"/>
            <a:ext cx="2163836" cy="16459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800" b="0" i="0">
                <a:solidFill>
                  <a:srgbClr val="657B90"/>
                </a:solidFill>
                <a:latin typeface="Calibri"/>
              </a:rPr>
              <a:t>Plumbing Schematic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028431" y="2715768"/>
            <a:ext cx="749808" cy="237744"/>
          </a:xfrm>
          <a:prstGeom prst="rect">
            <a:avLst/>
          </a:prstGeom>
          <a:solidFill>
            <a:srgbClr val="EBF7F1"/>
          </a:solidFill>
          <a:ln w="635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028431" y="2715768"/>
            <a:ext cx="749808" cy="237744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800" b="1" i="0">
                <a:solidFill>
                  <a:srgbClr val="1A6B3C"/>
                </a:solidFill>
                <a:latin typeface="Calibri"/>
              </a:rPr>
              <a:t>ISSUED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687568" y="3081528"/>
            <a:ext cx="3182112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687568" y="3547872"/>
            <a:ext cx="3182112" cy="9144"/>
          </a:xfrm>
          <a:prstGeom prst="rect">
            <a:avLst/>
          </a:prstGeom>
          <a:solidFill>
            <a:srgbClr val="DE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815583" y="3118104"/>
            <a:ext cx="2163836" cy="201168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000" b="1" i="0">
                <a:solidFill>
                  <a:srgbClr val="1D3D62"/>
                </a:solidFill>
                <a:latin typeface="Calibri"/>
              </a:rPr>
              <a:t>WESCH-E-001  R1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815583" y="3319272"/>
            <a:ext cx="2163836" cy="16459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800" b="0" i="0">
                <a:solidFill>
                  <a:srgbClr val="657B90"/>
                </a:solidFill>
                <a:latin typeface="Calibri"/>
              </a:rPr>
              <a:t>LT Panel Layout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028431" y="3191256"/>
            <a:ext cx="749808" cy="237744"/>
          </a:xfrm>
          <a:prstGeom prst="rect">
            <a:avLst/>
          </a:prstGeom>
          <a:solidFill>
            <a:srgbClr val="EBF7F1"/>
          </a:solidFill>
          <a:ln w="635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028431" y="3191256"/>
            <a:ext cx="749808" cy="237744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800" b="1" i="0">
                <a:solidFill>
                  <a:srgbClr val="1A6B3C"/>
                </a:solidFill>
                <a:latin typeface="Calibri"/>
              </a:rPr>
              <a:t>ISSUED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687568" y="3557016"/>
            <a:ext cx="3182112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687568" y="4023360"/>
            <a:ext cx="3182112" cy="9144"/>
          </a:xfrm>
          <a:prstGeom prst="rect">
            <a:avLst/>
          </a:prstGeom>
          <a:solidFill>
            <a:srgbClr val="DE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815583" y="3593592"/>
            <a:ext cx="2163836" cy="201168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000" b="1" i="0">
                <a:solidFill>
                  <a:srgbClr val="1D3D62"/>
                </a:solidFill>
                <a:latin typeface="Calibri"/>
              </a:rPr>
              <a:t>WESCH-E-002  R0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815583" y="3794760"/>
            <a:ext cx="2163836" cy="16459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800" b="0" i="0">
                <a:solidFill>
                  <a:srgbClr val="657B90"/>
                </a:solidFill>
                <a:latin typeface="Calibri"/>
              </a:rPr>
              <a:t>Pending L1 review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028431" y="3666744"/>
            <a:ext cx="749808" cy="237744"/>
          </a:xfrm>
          <a:prstGeom prst="rect">
            <a:avLst/>
          </a:prstGeom>
          <a:solidFill>
            <a:srgbClr val="FBF3E1"/>
          </a:solidFill>
          <a:ln w="635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028431" y="3666744"/>
            <a:ext cx="749808" cy="237744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800" b="1" i="0">
                <a:solidFill>
                  <a:srgbClr val="B07D1A"/>
                </a:solidFill>
                <a:latin typeface="Calibri"/>
              </a:rPr>
              <a:t>PENDING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63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" y="128016"/>
            <a:ext cx="4572000" cy="8046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Schedule — Tasks validated, not just ticked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" y="969264"/>
            <a:ext cx="4480560" cy="42062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1">
                <a:solidFill>
                  <a:srgbClr val="9AAABA"/>
                </a:solidFill>
                <a:latin typeface="Calibri"/>
              </a:rPr>
              <a:t>Site manager reports progress. PMC head validates before it counts.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" y="1463040"/>
            <a:ext cx="4434840" cy="36576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r>
              <a:rPr sz="1000">
                <a:solidFill>
                  <a:srgbClr val="9AAABA"/>
                </a:solidFill>
                <a:latin typeface="Calibri"/>
              </a:rPr>
              <a:t>• Schedule uploaded as Excel — task ID, name, trade, start/end, weight 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" y="1810512"/>
            <a:ext cx="4434840" cy="36576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r>
              <a:rPr sz="1000">
                <a:solidFill>
                  <a:srgbClr val="9AAABA"/>
                </a:solidFill>
                <a:latin typeface="Calibri"/>
              </a:rPr>
              <a:t>• Site manager marks % complete with daily report — not unilateral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" y="2157984"/>
            <a:ext cx="4434840" cy="36576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r>
              <a:rPr sz="1000">
                <a:solidFill>
                  <a:srgbClr val="9AAABA"/>
                </a:solidFill>
                <a:latin typeface="Calibri"/>
              </a:rPr>
              <a:t>• PMC validates each task completion before it rolls into overall progress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" y="2505456"/>
            <a:ext cx="4434840" cy="36576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r>
              <a:rPr sz="1000">
                <a:solidFill>
                  <a:srgbClr val="9AAABA"/>
                </a:solidFill>
                <a:latin typeface="Calibri"/>
              </a:rPr>
              <a:t>• Re-upload locks the old version — full revision history with 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" y="2852927"/>
            <a:ext cx="4434840" cy="36576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r>
              <a:rPr sz="1000">
                <a:solidFill>
                  <a:srgbClr val="9AAABA"/>
                </a:solidFill>
                <a:latin typeface="Calibri"/>
              </a:rPr>
              <a:t>• Daily reports include photo evidence, labour count, issues flagged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" y="3200399"/>
            <a:ext cx="4434840" cy="36576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r>
              <a:rPr sz="1000">
                <a:solidFill>
                  <a:srgbClr val="9AAABA"/>
                </a:solidFill>
                <a:latin typeface="Calibri"/>
              </a:rPr>
              <a:t>• AI anomaly detection flags suspicious entries (e.g. 100% in one day)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3547871"/>
            <a:ext cx="4434840" cy="36576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r>
              <a:rPr sz="1000">
                <a:solidFill>
                  <a:srgbClr val="9AAABA"/>
                </a:solidFill>
                <a:latin typeface="Calibri"/>
              </a:rPr>
              <a:t>• Weekly health report auto-generated and reviewed before going to client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50992" y="283464"/>
            <a:ext cx="3255264" cy="4645152"/>
          </a:xfrm>
          <a:prstGeom prst="rect">
            <a:avLst/>
          </a:prstGeom>
          <a:solidFill>
            <a:srgbClr val="F4F6F9"/>
          </a:solidFill>
          <a:ln w="635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87568" y="320040"/>
            <a:ext cx="3182112" cy="4572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87568" y="320040"/>
            <a:ext cx="3182112" cy="384048"/>
          </a:xfrm>
          <a:prstGeom prst="rect">
            <a:avLst/>
          </a:prstGeom>
          <a:solidFill>
            <a:srgbClr val="1D3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97296" y="393192"/>
            <a:ext cx="2999232" cy="25603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📅  Schedule — Week 14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87568" y="704088"/>
            <a:ext cx="1554480" cy="438912"/>
          </a:xfrm>
          <a:prstGeom prst="rect">
            <a:avLst/>
          </a:prstGeom>
          <a:solidFill>
            <a:srgbClr val="E8E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24144" y="722376"/>
            <a:ext cx="1481328" cy="219456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800" b="1" i="0">
                <a:solidFill>
                  <a:srgbClr val="B07D1A"/>
                </a:solidFill>
                <a:latin typeface="Calibri"/>
              </a:rPr>
              <a:t>68%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24144" y="941832"/>
            <a:ext cx="1481328" cy="16459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800" b="0" i="0">
                <a:solidFill>
                  <a:srgbClr val="657B90"/>
                </a:solidFill>
                <a:latin typeface="Calibri"/>
              </a:rPr>
              <a:t>Overall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78624" y="704088"/>
            <a:ext cx="1554480" cy="438912"/>
          </a:xfrm>
          <a:prstGeom prst="rect">
            <a:avLst/>
          </a:prstGeom>
          <a:solidFill>
            <a:srgbClr val="E8E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0" y="722376"/>
            <a:ext cx="1481328" cy="219456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800" b="1" i="0">
                <a:solidFill>
                  <a:srgbClr val="B07D1A"/>
                </a:solidFill>
                <a:latin typeface="Calibri"/>
              </a:rPr>
              <a:t>4d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941832"/>
            <a:ext cx="1481328" cy="16459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800" b="0" i="0">
                <a:solidFill>
                  <a:srgbClr val="657B90"/>
                </a:solidFill>
                <a:latin typeface="Calibri"/>
              </a:rPr>
              <a:t>Float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87568" y="1179576"/>
            <a:ext cx="3182112" cy="21945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797296" y="1243584"/>
            <a:ext cx="73152" cy="73152"/>
          </a:xfrm>
          <a:prstGeom prst="rect">
            <a:avLst/>
          </a:prstGeom>
          <a:solidFill>
            <a:srgbClr val="B07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33872" y="1207008"/>
            <a:ext cx="2999232" cy="16459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800" b="1" i="0">
                <a:solidFill>
                  <a:srgbClr val="657B90"/>
                </a:solidFill>
                <a:latin typeface="Calibri"/>
              </a:rPr>
              <a:t>  THIS WEEK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87568" y="1389888"/>
            <a:ext cx="3182112" cy="9144"/>
          </a:xfrm>
          <a:prstGeom prst="rect">
            <a:avLst/>
          </a:prstGeom>
          <a:solidFill>
            <a:srgbClr val="DE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687568" y="1417320"/>
            <a:ext cx="3182112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687568" y="1883664"/>
            <a:ext cx="3182112" cy="9144"/>
          </a:xfrm>
          <a:prstGeom prst="rect">
            <a:avLst/>
          </a:prstGeom>
          <a:solidFill>
            <a:srgbClr val="DE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15583" y="1453896"/>
            <a:ext cx="2163836" cy="201168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000" b="1" i="0">
                <a:solidFill>
                  <a:srgbClr val="1D3D62"/>
                </a:solidFill>
                <a:latin typeface="Calibri"/>
              </a:rPr>
              <a:t>PCC Footing — Grid 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15583" y="1655064"/>
            <a:ext cx="2163836" cy="16459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800" b="0" i="0">
                <a:solidFill>
                  <a:srgbClr val="657B90"/>
                </a:solidFill>
                <a:latin typeface="Calibri"/>
              </a:rPr>
              <a:t>Civil · 100% · Validated ✓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28431" y="1527048"/>
            <a:ext cx="749808" cy="237744"/>
          </a:xfrm>
          <a:prstGeom prst="rect">
            <a:avLst/>
          </a:prstGeom>
          <a:solidFill>
            <a:srgbClr val="EBF7F1"/>
          </a:solidFill>
          <a:ln w="635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28431" y="1527048"/>
            <a:ext cx="749808" cy="237744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800" b="1" i="0">
                <a:solidFill>
                  <a:srgbClr val="1A6B3C"/>
                </a:solidFill>
                <a:latin typeface="Calibri"/>
              </a:rPr>
              <a:t>DONE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87568" y="1892808"/>
            <a:ext cx="3182112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687568" y="2359152"/>
            <a:ext cx="3182112" cy="9144"/>
          </a:xfrm>
          <a:prstGeom prst="rect">
            <a:avLst/>
          </a:prstGeom>
          <a:solidFill>
            <a:srgbClr val="DE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815583" y="1929384"/>
            <a:ext cx="2163836" cy="201168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000" b="1" i="0">
                <a:solidFill>
                  <a:srgbClr val="1D3D62"/>
                </a:solidFill>
                <a:latin typeface="Calibri"/>
              </a:rPr>
              <a:t>RCC Columns G+1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15583" y="2130552"/>
            <a:ext cx="2163836" cy="16459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800" b="0" i="0">
                <a:solidFill>
                  <a:srgbClr val="657B90"/>
                </a:solidFill>
                <a:latin typeface="Calibri"/>
              </a:rPr>
              <a:t>Structural · 65% · Pending PMC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28431" y="2002536"/>
            <a:ext cx="749808" cy="237744"/>
          </a:xfrm>
          <a:prstGeom prst="rect">
            <a:avLst/>
          </a:prstGeom>
          <a:solidFill>
            <a:srgbClr val="FBF3E1"/>
          </a:solidFill>
          <a:ln w="635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28431" y="2002536"/>
            <a:ext cx="749808" cy="237744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800" b="1" i="0">
                <a:solidFill>
                  <a:srgbClr val="B07D1A"/>
                </a:solidFill>
                <a:latin typeface="Calibri"/>
              </a:rPr>
              <a:t>REVIEW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87568" y="2368296"/>
            <a:ext cx="3182112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687568" y="2834640"/>
            <a:ext cx="3182112" cy="9144"/>
          </a:xfrm>
          <a:prstGeom prst="rect">
            <a:avLst/>
          </a:prstGeom>
          <a:solidFill>
            <a:srgbClr val="DE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815583" y="2404872"/>
            <a:ext cx="2163836" cy="201168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000" b="1" i="0">
                <a:solidFill>
                  <a:srgbClr val="1D3D62"/>
                </a:solidFill>
                <a:latin typeface="Calibri"/>
              </a:rPr>
              <a:t>MEP rough-in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15583" y="2606040"/>
            <a:ext cx="2163836" cy="16459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800" b="0" i="0">
                <a:solidFill>
                  <a:srgbClr val="657B90"/>
                </a:solidFill>
                <a:latin typeface="Calibri"/>
              </a:rPr>
              <a:t>Services · 40% · Behind 3d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28431" y="2478024"/>
            <a:ext cx="749808" cy="237744"/>
          </a:xfrm>
          <a:prstGeom prst="rect">
            <a:avLst/>
          </a:prstGeom>
          <a:solidFill>
            <a:srgbClr val="FDECEA"/>
          </a:solidFill>
          <a:ln w="635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28431" y="2478024"/>
            <a:ext cx="749808" cy="237744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800" b="1" i="0">
                <a:solidFill>
                  <a:srgbClr val="CC3333"/>
                </a:solidFill>
                <a:latin typeface="Calibri"/>
              </a:rPr>
              <a:t>LATE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687568" y="2843784"/>
            <a:ext cx="3182112" cy="21945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797296" y="2907792"/>
            <a:ext cx="73152" cy="73152"/>
          </a:xfrm>
          <a:prstGeom prst="rect">
            <a:avLst/>
          </a:prstGeom>
          <a:solidFill>
            <a:srgbClr val="1D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833872" y="2871216"/>
            <a:ext cx="2999232" cy="16459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800" b="1" i="0">
                <a:solidFill>
                  <a:srgbClr val="657B90"/>
                </a:solidFill>
                <a:latin typeface="Calibri"/>
              </a:rPr>
              <a:t>  LOOK AHEAD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687568" y="3054096"/>
            <a:ext cx="3182112" cy="9144"/>
          </a:xfrm>
          <a:prstGeom prst="rect">
            <a:avLst/>
          </a:prstGeom>
          <a:solidFill>
            <a:srgbClr val="DE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687568" y="3081528"/>
            <a:ext cx="3182112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687568" y="3547872"/>
            <a:ext cx="3182112" cy="9144"/>
          </a:xfrm>
          <a:prstGeom prst="rect">
            <a:avLst/>
          </a:prstGeom>
          <a:solidFill>
            <a:srgbClr val="DE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815583" y="3118104"/>
            <a:ext cx="2163836" cy="201168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000" b="1" i="0">
                <a:solidFill>
                  <a:srgbClr val="1D3D62"/>
                </a:solidFill>
                <a:latin typeface="Calibri"/>
              </a:rPr>
              <a:t>Steel fabrication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815583" y="3319272"/>
            <a:ext cx="2163836" cy="16459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800" b="0" i="0">
                <a:solidFill>
                  <a:srgbClr val="657B90"/>
                </a:solidFill>
                <a:latin typeface="Calibri"/>
              </a:rPr>
              <a:t>Structural · Starts Mon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028431" y="3191256"/>
            <a:ext cx="749808" cy="237744"/>
          </a:xfrm>
          <a:prstGeom prst="rect">
            <a:avLst/>
          </a:prstGeom>
          <a:solidFill>
            <a:srgbClr val="EBF7F1"/>
          </a:solidFill>
          <a:ln w="635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028431" y="3191256"/>
            <a:ext cx="749808" cy="237744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800" b="1" i="0">
                <a:solidFill>
                  <a:srgbClr val="1A6B3C"/>
                </a:solidFill>
                <a:latin typeface="Calibri"/>
              </a:rPr>
              <a:t>ON TRACK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63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" y="128016"/>
            <a:ext cx="4572000" cy="8046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Procurement — Every rupee linked to delivery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" y="969264"/>
            <a:ext cx="4480560" cy="42062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1">
                <a:solidFill>
                  <a:srgbClr val="9AAABA"/>
                </a:solidFill>
                <a:latin typeface="Calibri"/>
              </a:rPr>
              <a:t>No payment without a GRN. No GRN without a PO. Disputes become facts.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" y="1463040"/>
            <a:ext cx="4434840" cy="36576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r>
              <a:rPr sz="1000">
                <a:solidFill>
                  <a:srgbClr val="9AAABA"/>
                </a:solidFill>
                <a:latin typeface="Calibri"/>
              </a:rPr>
              <a:t>• Vendor engaged with scope, contract value, and mobilisation date on record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" y="1810512"/>
            <a:ext cx="4434840" cy="36576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r>
              <a:rPr sz="1000">
                <a:solidFill>
                  <a:srgbClr val="9AAABA"/>
                </a:solidFill>
                <a:latin typeface="Calibri"/>
              </a:rPr>
              <a:t>• GRN raised against delivery — quantity, quality flag, photo evidence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" y="2157984"/>
            <a:ext cx="4434840" cy="36576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r>
              <a:rPr sz="1000">
                <a:solidFill>
                  <a:srgbClr val="9AAABA"/>
                </a:solidFill>
                <a:latin typeface="Calibri"/>
              </a:rPr>
              <a:t>• NCR raised directly from a GRN if quality non-conforming — vendor notified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" y="2505456"/>
            <a:ext cx="4434840" cy="36576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r>
              <a:rPr sz="1000">
                <a:solidFill>
                  <a:srgbClr val="9AAABA"/>
                </a:solidFill>
                <a:latin typeface="Calibri"/>
              </a:rPr>
              <a:t>• Payment request raised against GRN trail — not from memory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" y="2852927"/>
            <a:ext cx="4434840" cy="36576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r>
              <a:rPr sz="1000">
                <a:solidFill>
                  <a:srgbClr val="9AAABA"/>
                </a:solidFill>
                <a:latin typeface="Calibri"/>
              </a:rPr>
              <a:t>• Approval chain: PMC Head → Principal → finance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" y="3200399"/>
            <a:ext cx="4434840" cy="36576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r>
              <a:rPr sz="1000">
                <a:solidFill>
                  <a:srgbClr val="9AAABA"/>
                </a:solidFill>
                <a:latin typeface="Calibri"/>
              </a:rPr>
              <a:t>• ICICI bulk payment file generated, reviewed with expected total, then applied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3547871"/>
            <a:ext cx="4434840" cy="36576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r>
              <a:rPr sz="1000">
                <a:solidFill>
                  <a:srgbClr val="9AAABA"/>
                </a:solidFill>
                <a:latin typeface="Calibri"/>
              </a:rPr>
              <a:t>• UTR confirmation from bank updates each payment record automatically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50992" y="283464"/>
            <a:ext cx="3255264" cy="4645152"/>
          </a:xfrm>
          <a:prstGeom prst="rect">
            <a:avLst/>
          </a:prstGeom>
          <a:solidFill>
            <a:srgbClr val="F4F6F9"/>
          </a:solidFill>
          <a:ln w="635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87568" y="320040"/>
            <a:ext cx="3182112" cy="4572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87568" y="320040"/>
            <a:ext cx="3182112" cy="384048"/>
          </a:xfrm>
          <a:prstGeom prst="rect">
            <a:avLst/>
          </a:prstGeom>
          <a:solidFill>
            <a:srgbClr val="1D3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97296" y="393192"/>
            <a:ext cx="2999232" cy="25603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💰  Payment Requests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87568" y="704088"/>
            <a:ext cx="1554480" cy="438912"/>
          </a:xfrm>
          <a:prstGeom prst="rect">
            <a:avLst/>
          </a:prstGeom>
          <a:solidFill>
            <a:srgbClr val="E8E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24144" y="722376"/>
            <a:ext cx="1481328" cy="219456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800" b="1" i="0">
                <a:solidFill>
                  <a:srgbClr val="B07D1A"/>
                </a:solidFill>
                <a:latin typeface="Calibri"/>
              </a:rPr>
              <a:t>₹12.4L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24144" y="941832"/>
            <a:ext cx="1481328" cy="16459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800" b="0" i="0">
                <a:solidFill>
                  <a:srgbClr val="657B90"/>
                </a:solidFill>
                <a:latin typeface="Calibri"/>
              </a:rPr>
              <a:t>Pending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78624" y="704088"/>
            <a:ext cx="1554480" cy="438912"/>
          </a:xfrm>
          <a:prstGeom prst="rect">
            <a:avLst/>
          </a:prstGeom>
          <a:solidFill>
            <a:srgbClr val="E8E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0" y="722376"/>
            <a:ext cx="1481328" cy="219456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800" b="1" i="0">
                <a:solidFill>
                  <a:srgbClr val="B07D1A"/>
                </a:solidFill>
                <a:latin typeface="Calibri"/>
              </a:rPr>
              <a:t>₹44.8L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941832"/>
            <a:ext cx="1481328" cy="16459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800" b="0" i="0">
                <a:solidFill>
                  <a:srgbClr val="657B90"/>
                </a:solidFill>
                <a:latin typeface="Calibri"/>
              </a:rPr>
              <a:t>Paid MTD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87568" y="1179576"/>
            <a:ext cx="3182112" cy="21945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797296" y="1243584"/>
            <a:ext cx="73152" cy="73152"/>
          </a:xfrm>
          <a:prstGeom prst="rect">
            <a:avLst/>
          </a:prstGeom>
          <a:solidFill>
            <a:srgbClr val="B07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33872" y="1207008"/>
            <a:ext cx="2999232" cy="16459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800" b="1" i="0">
                <a:solidFill>
                  <a:srgbClr val="657B90"/>
                </a:solidFill>
                <a:latin typeface="Calibri"/>
              </a:rPr>
              <a:t>  AWAITING APPROVAL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87568" y="1389888"/>
            <a:ext cx="3182112" cy="9144"/>
          </a:xfrm>
          <a:prstGeom prst="rect">
            <a:avLst/>
          </a:prstGeom>
          <a:solidFill>
            <a:srgbClr val="DE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687568" y="1417320"/>
            <a:ext cx="3182112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687568" y="1883664"/>
            <a:ext cx="3182112" cy="9144"/>
          </a:xfrm>
          <a:prstGeom prst="rect">
            <a:avLst/>
          </a:prstGeom>
          <a:solidFill>
            <a:srgbClr val="DE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15583" y="1453896"/>
            <a:ext cx="2163836" cy="201168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000" b="1" i="0">
                <a:solidFill>
                  <a:srgbClr val="1D3D62"/>
                </a:solidFill>
                <a:latin typeface="Calibri"/>
              </a:rPr>
              <a:t>Shri Tiles — Supply + Labour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15583" y="1655064"/>
            <a:ext cx="2163836" cy="16459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800" b="0" i="0">
                <a:solidFill>
                  <a:srgbClr val="657B90"/>
                </a:solidFill>
                <a:latin typeface="Calibri"/>
              </a:rPr>
              <a:t>GRN-041 · ₹2,18,450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28431" y="1527048"/>
            <a:ext cx="749808" cy="237744"/>
          </a:xfrm>
          <a:prstGeom prst="rect">
            <a:avLst/>
          </a:prstGeom>
          <a:solidFill>
            <a:srgbClr val="FBF3E1"/>
          </a:solidFill>
          <a:ln w="635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28431" y="1527048"/>
            <a:ext cx="749808" cy="237744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800" b="1" i="0">
                <a:solidFill>
                  <a:srgbClr val="B07D1A"/>
                </a:solidFill>
                <a:latin typeface="Calibri"/>
              </a:rPr>
              <a:t>PMC REVIEW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87568" y="1892808"/>
            <a:ext cx="3182112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687568" y="2359152"/>
            <a:ext cx="3182112" cy="9144"/>
          </a:xfrm>
          <a:prstGeom prst="rect">
            <a:avLst/>
          </a:prstGeom>
          <a:solidFill>
            <a:srgbClr val="DE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815583" y="1929384"/>
            <a:ext cx="2163836" cy="201168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000" b="1" i="0">
                <a:solidFill>
                  <a:srgbClr val="1D3D62"/>
                </a:solidFill>
                <a:latin typeface="Calibri"/>
              </a:rPr>
              <a:t>Ravi Electrical Contractors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15583" y="2130552"/>
            <a:ext cx="2163836" cy="16459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800" b="0" i="0">
                <a:solidFill>
                  <a:srgbClr val="657B90"/>
                </a:solidFill>
                <a:latin typeface="Calibri"/>
              </a:rPr>
              <a:t>GRN-039 · ₹88,000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28431" y="2002536"/>
            <a:ext cx="749808" cy="237744"/>
          </a:xfrm>
          <a:prstGeom prst="rect">
            <a:avLst/>
          </a:prstGeom>
          <a:solidFill>
            <a:srgbClr val="FBF3E1"/>
          </a:solidFill>
          <a:ln w="635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28431" y="2002536"/>
            <a:ext cx="749808" cy="237744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800" b="1" i="0">
                <a:solidFill>
                  <a:srgbClr val="B07D1A"/>
                </a:solidFill>
                <a:latin typeface="Calibri"/>
              </a:rPr>
              <a:t>PMC REVIEW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87568" y="2368296"/>
            <a:ext cx="3182112" cy="21945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797296" y="2432304"/>
            <a:ext cx="73152" cy="73152"/>
          </a:xfrm>
          <a:prstGeom prst="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833872" y="2395728"/>
            <a:ext cx="2999232" cy="16459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800" b="1" i="0">
                <a:solidFill>
                  <a:srgbClr val="657B90"/>
                </a:solidFill>
                <a:latin typeface="Calibri"/>
              </a:rPr>
              <a:t>  PRINCIPAL APPROVAL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87568" y="2578608"/>
            <a:ext cx="3182112" cy="9144"/>
          </a:xfrm>
          <a:prstGeom prst="rect">
            <a:avLst/>
          </a:prstGeom>
          <a:solidFill>
            <a:srgbClr val="DE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687568" y="2606040"/>
            <a:ext cx="3182112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687568" y="3072384"/>
            <a:ext cx="3182112" cy="9144"/>
          </a:xfrm>
          <a:prstGeom prst="rect">
            <a:avLst/>
          </a:prstGeom>
          <a:solidFill>
            <a:srgbClr val="DE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815583" y="2642616"/>
            <a:ext cx="2163836" cy="201168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000" b="1" i="0">
                <a:solidFill>
                  <a:srgbClr val="1D3D62"/>
                </a:solidFill>
                <a:latin typeface="Calibri"/>
              </a:rPr>
              <a:t>Aryan Steel — Reinforcement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15583" y="2843784"/>
            <a:ext cx="2163836" cy="16459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800" b="0" i="0">
                <a:solidFill>
                  <a:srgbClr val="657B90"/>
                </a:solidFill>
                <a:latin typeface="Calibri"/>
              </a:rPr>
              <a:t>GRN-038 · ₹7,14,200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28431" y="2715768"/>
            <a:ext cx="749808" cy="237744"/>
          </a:xfrm>
          <a:prstGeom prst="rect">
            <a:avLst/>
          </a:prstGeom>
          <a:solidFill>
            <a:srgbClr val="FDECEA"/>
          </a:solidFill>
          <a:ln w="635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28431" y="2715768"/>
            <a:ext cx="749808" cy="237744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800" b="1" i="0">
                <a:solidFill>
                  <a:srgbClr val="CC3333"/>
                </a:solidFill>
                <a:latin typeface="Calibri"/>
              </a:rPr>
              <a:t>PENDING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687568" y="3081528"/>
            <a:ext cx="3182112" cy="21945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797296" y="3145536"/>
            <a:ext cx="73152" cy="73152"/>
          </a:xfrm>
          <a:prstGeom prst="rect">
            <a:avLst/>
          </a:prstGeom>
          <a:solidFill>
            <a:srgbClr val="1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833872" y="3108960"/>
            <a:ext cx="2999232" cy="16459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800" b="1" i="0">
                <a:solidFill>
                  <a:srgbClr val="657B90"/>
                </a:solidFill>
                <a:latin typeface="Calibri"/>
              </a:rPr>
              <a:t>  RECENTLY PAID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687568" y="3291840"/>
            <a:ext cx="3182112" cy="9144"/>
          </a:xfrm>
          <a:prstGeom prst="rect">
            <a:avLst/>
          </a:prstGeom>
          <a:solidFill>
            <a:srgbClr val="DE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687568" y="3319272"/>
            <a:ext cx="3182112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687568" y="3785616"/>
            <a:ext cx="3182112" cy="9144"/>
          </a:xfrm>
          <a:prstGeom prst="rect">
            <a:avLst/>
          </a:prstGeom>
          <a:solidFill>
            <a:srgbClr val="DE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815583" y="3355848"/>
            <a:ext cx="2163836" cy="201168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000" b="1" i="0">
                <a:solidFill>
                  <a:srgbClr val="1D3D62"/>
                </a:solidFill>
                <a:latin typeface="Calibri"/>
              </a:rPr>
              <a:t>Bharat Formwork Ltd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815583" y="3557016"/>
            <a:ext cx="2163836" cy="16459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800" b="0" i="0">
                <a:solidFill>
                  <a:srgbClr val="657B90"/>
                </a:solidFill>
                <a:latin typeface="Calibri"/>
              </a:rPr>
              <a:t>UTR 123456789 · ₹3,42,000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028431" y="3429000"/>
            <a:ext cx="749808" cy="237744"/>
          </a:xfrm>
          <a:prstGeom prst="rect">
            <a:avLst/>
          </a:prstGeom>
          <a:solidFill>
            <a:srgbClr val="EBF7F1"/>
          </a:solidFill>
          <a:ln w="635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028431" y="3429000"/>
            <a:ext cx="749808" cy="237744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800" b="1" i="0">
                <a:solidFill>
                  <a:srgbClr val="1A6B3C"/>
                </a:solidFill>
                <a:latin typeface="Calibri"/>
              </a:rPr>
              <a:t>PAID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63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" y="128016"/>
            <a:ext cx="4572000" cy="8046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MOMs — Agreed. Issued. Acknowledged.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" y="969264"/>
            <a:ext cx="4480560" cy="42062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1">
                <a:solidFill>
                  <a:srgbClr val="9AAABA"/>
                </a:solidFill>
                <a:latin typeface="Calibri"/>
              </a:rPr>
              <a:t>A MOM that was never seen by the client is not a MOM.</a:t>
            </a:r>
          </a:p>
        </p:txBody>
      </p:sp>
      <p:sp>
        <p:nvSpPr>
          <p:cNvPr id="6" name="Rectangle 5"/>
          <p:cNvSpPr/>
          <p:nvPr/>
        </p:nvSpPr>
        <p:spPr>
          <a:xfrm>
            <a:off x="338327" y="1463040"/>
            <a:ext cx="713232" cy="457200"/>
          </a:xfrm>
          <a:prstGeom prst="rect">
            <a:avLst/>
          </a:prstGeom>
          <a:solidFill>
            <a:srgbClr val="1D3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7" y="1499616"/>
            <a:ext cx="713232" cy="246888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7" y="1719072"/>
            <a:ext cx="713232" cy="1828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700" b="0" i="0">
                <a:solidFill>
                  <a:srgbClr val="9AAABA"/>
                </a:solidFill>
                <a:latin typeface="Calibri"/>
              </a:rPr>
              <a:t>PMC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" y="1554480"/>
            <a:ext cx="164592" cy="2743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400" b="1" i="0">
                <a:solidFill>
                  <a:srgbClr val="C9A84C"/>
                </a:solidFill>
                <a:latin typeface="Calibri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16151" y="1463040"/>
            <a:ext cx="713232" cy="457200"/>
          </a:xfrm>
          <a:prstGeom prst="rect">
            <a:avLst/>
          </a:prstGeom>
          <a:solidFill>
            <a:srgbClr val="1D3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16151" y="1499616"/>
            <a:ext cx="713232" cy="246888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PMC
Approves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38527" y="1554480"/>
            <a:ext cx="164592" cy="2743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400" b="1" i="0">
                <a:solidFill>
                  <a:srgbClr val="C9A84C"/>
                </a:solidFill>
                <a:latin typeface="Calibr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93976" y="1463040"/>
            <a:ext cx="713232" cy="457200"/>
          </a:xfrm>
          <a:prstGeom prst="rect">
            <a:avLst/>
          </a:prstGeom>
          <a:solidFill>
            <a:srgbClr val="1D3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93976" y="1499616"/>
            <a:ext cx="713232" cy="246888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Preview
Checked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16352" y="1554480"/>
            <a:ext cx="164592" cy="2743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400" b="1" i="0">
                <a:solidFill>
                  <a:srgbClr val="C9A84C"/>
                </a:solidFill>
                <a:latin typeface="Calibri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71800" y="1463040"/>
            <a:ext cx="713232" cy="457200"/>
          </a:xfrm>
          <a:prstGeom prst="rect">
            <a:avLst/>
          </a:prstGeom>
          <a:solidFill>
            <a:srgbClr val="1D3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71800" y="1499616"/>
            <a:ext cx="713232" cy="246888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Sent to
Client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94176" y="1554480"/>
            <a:ext cx="164592" cy="2743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400" b="1" i="0">
                <a:solidFill>
                  <a:srgbClr val="C9A84C"/>
                </a:solidFill>
                <a:latin typeface="Calibri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9624" y="1463040"/>
            <a:ext cx="713232" cy="457200"/>
          </a:xfrm>
          <a:prstGeom prst="rect">
            <a:avLst/>
          </a:prstGeom>
          <a:solidFill>
            <a:srgbClr val="1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9624" y="1499616"/>
            <a:ext cx="713232" cy="246888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Client
Acknowledges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1920240"/>
            <a:ext cx="4434840" cy="36576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r>
              <a:rPr sz="1000">
                <a:solidFill>
                  <a:srgbClr val="9AAABA"/>
                </a:solidFill>
                <a:latin typeface="Calibri"/>
              </a:rPr>
              <a:t>• PMC approves internally first — client never sees a draft by accident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2267712"/>
            <a:ext cx="4434840" cy="36576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r>
              <a:rPr sz="1000">
                <a:solidFill>
                  <a:srgbClr val="9AAABA"/>
                </a:solidFill>
                <a:latin typeface="Calibri"/>
              </a:rPr>
              <a:t>• Preview step shows exact WhatsApp message before it is sent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2615184"/>
            <a:ext cx="4434840" cy="36576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r>
              <a:rPr sz="1000">
                <a:solidFill>
                  <a:srgbClr val="9AAABA"/>
                </a:solidFill>
                <a:latin typeface="Calibri"/>
              </a:rPr>
              <a:t>• Client acknowledges via WhatsApp reply — timestamp recorded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" y="2962656"/>
            <a:ext cx="4434840" cy="36576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r>
              <a:rPr sz="1000">
                <a:solidFill>
                  <a:srgbClr val="9AAABA"/>
                </a:solidFill>
                <a:latin typeface="Calibri"/>
              </a:rPr>
              <a:t>• Action items extracted from MOM — tracked to closure separately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" y="3310127"/>
            <a:ext cx="4434840" cy="36576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r>
              <a:rPr sz="1000">
                <a:solidFill>
                  <a:srgbClr val="9AAABA"/>
                </a:solidFill>
                <a:latin typeface="Calibri"/>
              </a:rPr>
              <a:t>• Up to 4 revisions before MOM is locked; each revision is versioned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50992" y="283464"/>
            <a:ext cx="3255264" cy="4645152"/>
          </a:xfrm>
          <a:prstGeom prst="rect">
            <a:avLst/>
          </a:prstGeom>
          <a:solidFill>
            <a:srgbClr val="F4F6F9"/>
          </a:solidFill>
          <a:ln w="635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687568" y="320040"/>
            <a:ext cx="3182112" cy="4572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687568" y="320040"/>
            <a:ext cx="3182112" cy="384048"/>
          </a:xfrm>
          <a:prstGeom prst="rect">
            <a:avLst/>
          </a:prstGeom>
          <a:solidFill>
            <a:srgbClr val="1D3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97296" y="393192"/>
            <a:ext cx="2999232" cy="25603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📋  MOMs — WESCH Phase 01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87568" y="704088"/>
            <a:ext cx="3182112" cy="21945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797296" y="768096"/>
            <a:ext cx="73152" cy="73152"/>
          </a:xfrm>
          <a:prstGeom prst="rect">
            <a:avLst/>
          </a:prstGeom>
          <a:solidFill>
            <a:srgbClr val="1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833872" y="731520"/>
            <a:ext cx="2999232" cy="16459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800" b="1" i="0">
                <a:solidFill>
                  <a:srgbClr val="657B90"/>
                </a:solidFill>
                <a:latin typeface="Calibri"/>
              </a:rPr>
              <a:t>  RECENT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87568" y="914400"/>
            <a:ext cx="3182112" cy="9144"/>
          </a:xfrm>
          <a:prstGeom prst="rect">
            <a:avLst/>
          </a:prstGeom>
          <a:solidFill>
            <a:srgbClr val="DE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687568" y="941832"/>
            <a:ext cx="3182112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687568" y="1408176"/>
            <a:ext cx="3182112" cy="9144"/>
          </a:xfrm>
          <a:prstGeom prst="rect">
            <a:avLst/>
          </a:prstGeom>
          <a:solidFill>
            <a:srgbClr val="DE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815583" y="978408"/>
            <a:ext cx="2163836" cy="201168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000" b="1" i="0">
                <a:solidFill>
                  <a:srgbClr val="1D3D62"/>
                </a:solidFill>
                <a:latin typeface="Calibri"/>
              </a:rPr>
              <a:t>MOM-042  Site Coordination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15583" y="1179576"/>
            <a:ext cx="2163836" cy="16459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800" b="0" i="0">
                <a:solidFill>
                  <a:srgbClr val="657B90"/>
                </a:solidFill>
                <a:latin typeface="Calibri"/>
              </a:rPr>
              <a:t>Issued 14 Apr · Client ✓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28431" y="1051560"/>
            <a:ext cx="749808" cy="237744"/>
          </a:xfrm>
          <a:prstGeom prst="rect">
            <a:avLst/>
          </a:prstGeom>
          <a:solidFill>
            <a:srgbClr val="EBF7F1"/>
          </a:solidFill>
          <a:ln w="635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28431" y="1051560"/>
            <a:ext cx="749808" cy="237744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800" b="1" i="0">
                <a:solidFill>
                  <a:srgbClr val="1A6B3C"/>
                </a:solidFill>
                <a:latin typeface="Calibri"/>
              </a:rPr>
              <a:t>ACKED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687568" y="1417320"/>
            <a:ext cx="3182112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687568" y="1883664"/>
            <a:ext cx="3182112" cy="9144"/>
          </a:xfrm>
          <a:prstGeom prst="rect">
            <a:avLst/>
          </a:prstGeom>
          <a:solidFill>
            <a:srgbClr val="DE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815583" y="1453896"/>
            <a:ext cx="2163836" cy="201168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000" b="1" i="0">
                <a:solidFill>
                  <a:srgbClr val="1D3D62"/>
                </a:solidFill>
                <a:latin typeface="Calibri"/>
              </a:rPr>
              <a:t>MOM-041  Design Review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15583" y="1655064"/>
            <a:ext cx="2163836" cy="16459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800" b="0" i="0">
                <a:solidFill>
                  <a:srgbClr val="657B90"/>
                </a:solidFill>
                <a:latin typeface="Calibri"/>
              </a:rPr>
              <a:t>Issued 07 Apr · Client ✓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28431" y="1527048"/>
            <a:ext cx="749808" cy="237744"/>
          </a:xfrm>
          <a:prstGeom prst="rect">
            <a:avLst/>
          </a:prstGeom>
          <a:solidFill>
            <a:srgbClr val="EBF7F1"/>
          </a:solidFill>
          <a:ln w="635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28431" y="1527048"/>
            <a:ext cx="749808" cy="237744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800" b="1" i="0">
                <a:solidFill>
                  <a:srgbClr val="1A6B3C"/>
                </a:solidFill>
                <a:latin typeface="Calibri"/>
              </a:rPr>
              <a:t>ACKED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687568" y="1892808"/>
            <a:ext cx="3182112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687568" y="2359152"/>
            <a:ext cx="3182112" cy="9144"/>
          </a:xfrm>
          <a:prstGeom prst="rect">
            <a:avLst/>
          </a:prstGeom>
          <a:solidFill>
            <a:srgbClr val="DE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815583" y="1929384"/>
            <a:ext cx="2163836" cy="201168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000" b="1" i="0">
                <a:solidFill>
                  <a:srgbClr val="1D3D62"/>
                </a:solidFill>
                <a:latin typeface="Calibri"/>
              </a:rPr>
              <a:t>MOM-043  Contractor Mtg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15583" y="2130552"/>
            <a:ext cx="2163836" cy="16459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800" b="0" i="0">
                <a:solidFill>
                  <a:srgbClr val="657B90"/>
                </a:solidFill>
                <a:latin typeface="Calibri"/>
              </a:rPr>
              <a:t>PMC approved · Not yet sent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028431" y="2002536"/>
            <a:ext cx="749808" cy="237744"/>
          </a:xfrm>
          <a:prstGeom prst="rect">
            <a:avLst/>
          </a:prstGeom>
          <a:solidFill>
            <a:srgbClr val="FBF3E1"/>
          </a:solidFill>
          <a:ln w="635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028431" y="2002536"/>
            <a:ext cx="749808" cy="237744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800" b="1" i="0">
                <a:solidFill>
                  <a:srgbClr val="B07D1A"/>
                </a:solidFill>
                <a:latin typeface="Calibri"/>
              </a:rPr>
              <a:t>APPROVED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687568" y="2368296"/>
            <a:ext cx="3182112" cy="21945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797296" y="2432304"/>
            <a:ext cx="73152" cy="73152"/>
          </a:xfrm>
          <a:prstGeom prst="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833872" y="2395728"/>
            <a:ext cx="2999232" cy="16459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800" b="1" i="0">
                <a:solidFill>
                  <a:srgbClr val="657B90"/>
                </a:solidFill>
                <a:latin typeface="Calibri"/>
              </a:rPr>
              <a:t>  ACTION ITEMS (open)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687568" y="2578608"/>
            <a:ext cx="3182112" cy="9144"/>
          </a:xfrm>
          <a:prstGeom prst="rect">
            <a:avLst/>
          </a:prstGeom>
          <a:solidFill>
            <a:srgbClr val="DE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687568" y="2606040"/>
            <a:ext cx="3182112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687568" y="3072384"/>
            <a:ext cx="3182112" cy="9144"/>
          </a:xfrm>
          <a:prstGeom prst="rect">
            <a:avLst/>
          </a:prstGeom>
          <a:solidFill>
            <a:srgbClr val="DE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815583" y="2642616"/>
            <a:ext cx="2163836" cy="201168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000" b="1" i="0">
                <a:solidFill>
                  <a:srgbClr val="1D3D62"/>
                </a:solidFill>
                <a:latin typeface="Calibri"/>
              </a:rPr>
              <a:t>Contractor to resubmit shop dwgs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815583" y="2843784"/>
            <a:ext cx="2163836" cy="16459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800" b="0" i="0">
                <a:solidFill>
                  <a:srgbClr val="657B90"/>
                </a:solidFill>
                <a:latin typeface="Calibri"/>
              </a:rPr>
              <a:t>Due: 20 Apr · Owner: Site team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028431" y="2715768"/>
            <a:ext cx="749808" cy="237744"/>
          </a:xfrm>
          <a:prstGeom prst="rect">
            <a:avLst/>
          </a:prstGeom>
          <a:solidFill>
            <a:srgbClr val="FDECEA"/>
          </a:solidFill>
          <a:ln w="635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028431" y="2715768"/>
            <a:ext cx="749808" cy="237744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800" b="1" i="0">
                <a:solidFill>
                  <a:srgbClr val="CC3333"/>
                </a:solidFill>
                <a:latin typeface="Calibri"/>
              </a:rPr>
              <a:t>OPEN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687568" y="3081528"/>
            <a:ext cx="3182112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687568" y="3547872"/>
            <a:ext cx="3182112" cy="9144"/>
          </a:xfrm>
          <a:prstGeom prst="rect">
            <a:avLst/>
          </a:prstGeom>
          <a:solidFill>
            <a:srgbClr val="DE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815583" y="3118104"/>
            <a:ext cx="2163836" cy="201168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000" b="1" i="0">
                <a:solidFill>
                  <a:srgbClr val="1D3D62"/>
                </a:solidFill>
                <a:latin typeface="Calibri"/>
              </a:rPr>
              <a:t>Engineer to confirm footing load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815583" y="3319272"/>
            <a:ext cx="2163836" cy="16459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800" b="0" i="0">
                <a:solidFill>
                  <a:srgbClr val="657B90"/>
                </a:solidFill>
                <a:latin typeface="Calibri"/>
              </a:rPr>
              <a:t>Due: 18 Apr · Owner: Services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028431" y="3191256"/>
            <a:ext cx="749808" cy="237744"/>
          </a:xfrm>
          <a:prstGeom prst="rect">
            <a:avLst/>
          </a:prstGeom>
          <a:solidFill>
            <a:srgbClr val="FDECEA"/>
          </a:solidFill>
          <a:ln w="635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028431" y="3191256"/>
            <a:ext cx="749808" cy="237744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800" b="1" i="0">
                <a:solidFill>
                  <a:srgbClr val="CC3333"/>
                </a:solidFill>
                <a:latin typeface="Calibri"/>
              </a:rPr>
              <a:t>OPEN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687568" y="3557016"/>
            <a:ext cx="3182112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687568" y="4023360"/>
            <a:ext cx="3182112" cy="9144"/>
          </a:xfrm>
          <a:prstGeom prst="rect">
            <a:avLst/>
          </a:prstGeom>
          <a:solidFill>
            <a:srgbClr val="DE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815583" y="3593592"/>
            <a:ext cx="2163836" cy="201168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000" b="1" i="0">
                <a:solidFill>
                  <a:srgbClr val="1D3D62"/>
                </a:solidFill>
                <a:latin typeface="Calibri"/>
              </a:rPr>
              <a:t>Rebar delivery rescheduled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815583" y="3794760"/>
            <a:ext cx="2163836" cy="16459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800" b="0" i="0">
                <a:solidFill>
                  <a:srgbClr val="657B90"/>
                </a:solidFill>
                <a:latin typeface="Calibri"/>
              </a:rPr>
              <a:t>Done 16 Apr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028431" y="3666744"/>
            <a:ext cx="749808" cy="237744"/>
          </a:xfrm>
          <a:prstGeom prst="rect">
            <a:avLst/>
          </a:prstGeom>
          <a:solidFill>
            <a:srgbClr val="EBF7F1"/>
          </a:solidFill>
          <a:ln w="635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028431" y="3666744"/>
            <a:ext cx="749808" cy="237744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800" b="1" i="0">
                <a:solidFill>
                  <a:srgbClr val="1A6B3C"/>
                </a:solidFill>
                <a:latin typeface="Calibri"/>
              </a:rPr>
              <a:t>DONE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63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" y="128016"/>
            <a:ext cx="4572000" cy="8046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Finance — From milestone to receipt, fully tracked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" y="969264"/>
            <a:ext cx="4480560" cy="42062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1">
                <a:solidFill>
                  <a:srgbClr val="9AAABA"/>
                </a:solidFill>
                <a:latin typeface="Calibri"/>
              </a:rPr>
              <a:t>Billing tied to the fee schedule. Every rupee in and out has a paper trail.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" y="1463040"/>
            <a:ext cx="4434840" cy="36576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r>
              <a:rPr sz="1000">
                <a:solidFill>
                  <a:srgbClr val="9AAABA"/>
                </a:solidFill>
                <a:latin typeface="Calibri"/>
              </a:rPr>
              <a:t>• Proforma invoices raised against pre-agreed fee-schedule milestones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" y="1810512"/>
            <a:ext cx="4434840" cy="36576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r>
              <a:rPr sz="1000">
                <a:solidFill>
                  <a:srgbClr val="9AAABA"/>
                </a:solidFill>
                <a:latin typeface="Calibri"/>
              </a:rPr>
              <a:t>• Client master must be complete (GSTIN, Tally ledger) before first PI — enforced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" y="2157984"/>
            <a:ext cx="4434840" cy="36576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r>
              <a:rPr sz="1000">
                <a:solidFill>
                  <a:srgbClr val="9AAABA"/>
                </a:solidFill>
                <a:latin typeface="Calibri"/>
              </a:rPr>
              <a:t>• GST treatment (regular / SEZ / unregistered) set per client, not per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" y="2505456"/>
            <a:ext cx="4434840" cy="36576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r>
              <a:rPr sz="1000">
                <a:solidFill>
                  <a:srgbClr val="9AAABA"/>
                </a:solidFill>
                <a:latin typeface="Calibri"/>
              </a:rPr>
              <a:t>• Client receipt records UTR, date, amount, and TDS deducted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" y="2852927"/>
            <a:ext cx="4434840" cy="36576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r>
              <a:rPr sz="1000">
                <a:solidFill>
                  <a:srgbClr val="9AAABA"/>
                </a:solidFill>
                <a:latin typeface="Calibri"/>
              </a:rPr>
              <a:t>• TDS auto-computed and logged — reconcilable against Form 26AS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" y="3200399"/>
            <a:ext cx="4434840" cy="36576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r>
              <a:rPr sz="1000">
                <a:solidFill>
                  <a:srgbClr val="9AAABA"/>
                </a:solidFill>
                <a:latin typeface="Calibri"/>
              </a:rPr>
              <a:t>• Petty cash float tracked with running balance — expense categories enforced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3547871"/>
            <a:ext cx="4434840" cy="36576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r>
              <a:rPr sz="1000">
                <a:solidFill>
                  <a:srgbClr val="9AAABA"/>
                </a:solidFill>
                <a:latin typeface="Calibri"/>
              </a:rPr>
              <a:t>• Tally-XML export available for each client receipt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50992" y="283464"/>
            <a:ext cx="3255264" cy="4645152"/>
          </a:xfrm>
          <a:prstGeom prst="rect">
            <a:avLst/>
          </a:prstGeom>
          <a:solidFill>
            <a:srgbClr val="F4F6F9"/>
          </a:solidFill>
          <a:ln w="635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87568" y="320040"/>
            <a:ext cx="3182112" cy="4572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87568" y="320040"/>
            <a:ext cx="3182112" cy="384048"/>
          </a:xfrm>
          <a:prstGeom prst="rect">
            <a:avLst/>
          </a:prstGeom>
          <a:solidFill>
            <a:srgbClr val="1D3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97296" y="393192"/>
            <a:ext cx="2999232" cy="25603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🧾  Invoices — WESCH Phase 01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87568" y="704088"/>
            <a:ext cx="1554480" cy="438912"/>
          </a:xfrm>
          <a:prstGeom prst="rect">
            <a:avLst/>
          </a:prstGeom>
          <a:solidFill>
            <a:srgbClr val="E8E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24144" y="722376"/>
            <a:ext cx="1481328" cy="219456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800" b="1" i="0">
                <a:solidFill>
                  <a:srgbClr val="B07D1A"/>
                </a:solidFill>
                <a:latin typeface="Calibri"/>
              </a:rPr>
              <a:t>₹54.2L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24144" y="941832"/>
            <a:ext cx="1481328" cy="16459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800" b="0" i="0">
                <a:solidFill>
                  <a:srgbClr val="657B90"/>
                </a:solidFill>
                <a:latin typeface="Calibri"/>
              </a:rPr>
              <a:t>Raised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78624" y="704088"/>
            <a:ext cx="1554480" cy="438912"/>
          </a:xfrm>
          <a:prstGeom prst="rect">
            <a:avLst/>
          </a:prstGeom>
          <a:solidFill>
            <a:srgbClr val="E8E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0" y="722376"/>
            <a:ext cx="1481328" cy="219456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800" b="1" i="0">
                <a:solidFill>
                  <a:srgbClr val="B07D1A"/>
                </a:solidFill>
                <a:latin typeface="Calibri"/>
              </a:rPr>
              <a:t>₹38.4L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941832"/>
            <a:ext cx="1481328" cy="16459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800" b="0" i="0">
                <a:solidFill>
                  <a:srgbClr val="657B90"/>
                </a:solidFill>
                <a:latin typeface="Calibri"/>
              </a:rPr>
              <a:t>Received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87568" y="1179576"/>
            <a:ext cx="3182112" cy="21945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797296" y="1243584"/>
            <a:ext cx="73152" cy="73152"/>
          </a:xfrm>
          <a:prstGeom prst="rect">
            <a:avLst/>
          </a:prstGeom>
          <a:solidFill>
            <a:srgbClr val="1D3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33872" y="1207008"/>
            <a:ext cx="2999232" cy="16459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800" b="1" i="0">
                <a:solidFill>
                  <a:srgbClr val="657B90"/>
                </a:solidFill>
                <a:latin typeface="Calibri"/>
              </a:rPr>
              <a:t>  PROFORMA INVOICES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87568" y="1389888"/>
            <a:ext cx="3182112" cy="9144"/>
          </a:xfrm>
          <a:prstGeom prst="rect">
            <a:avLst/>
          </a:prstGeom>
          <a:solidFill>
            <a:srgbClr val="DE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687568" y="1417320"/>
            <a:ext cx="3182112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687568" y="1883664"/>
            <a:ext cx="3182112" cy="9144"/>
          </a:xfrm>
          <a:prstGeom prst="rect">
            <a:avLst/>
          </a:prstGeom>
          <a:solidFill>
            <a:srgbClr val="DE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15583" y="1453896"/>
            <a:ext cx="2163836" cy="201168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000" b="1" i="0">
                <a:solidFill>
                  <a:srgbClr val="1D3D62"/>
                </a:solidFill>
                <a:latin typeface="Calibri"/>
              </a:rPr>
              <a:t>PI/WESCH/2026/001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15583" y="1655064"/>
            <a:ext cx="2163836" cy="16459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800" b="0" i="0">
                <a:solidFill>
                  <a:srgbClr val="657B90"/>
                </a:solidFill>
                <a:latin typeface="Calibri"/>
              </a:rPr>
              <a:t>Stage 1 — Concept · ₹11,24,550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28431" y="1527048"/>
            <a:ext cx="749808" cy="237744"/>
          </a:xfrm>
          <a:prstGeom prst="rect">
            <a:avLst/>
          </a:prstGeom>
          <a:solidFill>
            <a:srgbClr val="EBF7F1"/>
          </a:solidFill>
          <a:ln w="635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28431" y="1527048"/>
            <a:ext cx="749808" cy="237744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800" b="1" i="0">
                <a:solidFill>
                  <a:srgbClr val="1A6B3C"/>
                </a:solidFill>
                <a:latin typeface="Calibri"/>
              </a:rPr>
              <a:t>PAID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87568" y="1892808"/>
            <a:ext cx="3182112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687568" y="2359152"/>
            <a:ext cx="3182112" cy="9144"/>
          </a:xfrm>
          <a:prstGeom prst="rect">
            <a:avLst/>
          </a:prstGeom>
          <a:solidFill>
            <a:srgbClr val="DE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815583" y="1929384"/>
            <a:ext cx="2163836" cy="201168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000" b="1" i="0">
                <a:solidFill>
                  <a:srgbClr val="1D3D62"/>
                </a:solidFill>
                <a:latin typeface="Calibri"/>
              </a:rPr>
              <a:t>PI/WESCH/2026/002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15583" y="2130552"/>
            <a:ext cx="2163836" cy="16459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800" b="0" i="0">
                <a:solidFill>
                  <a:srgbClr val="657B90"/>
                </a:solidFill>
                <a:latin typeface="Calibri"/>
              </a:rPr>
              <a:t>Stage 2 — Schematics · ₹9,38,000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28431" y="2002536"/>
            <a:ext cx="749808" cy="237744"/>
          </a:xfrm>
          <a:prstGeom prst="rect">
            <a:avLst/>
          </a:prstGeom>
          <a:solidFill>
            <a:srgbClr val="EBF7F1"/>
          </a:solidFill>
          <a:ln w="635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28431" y="2002536"/>
            <a:ext cx="749808" cy="237744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800" b="1" i="0">
                <a:solidFill>
                  <a:srgbClr val="1A6B3C"/>
                </a:solidFill>
                <a:latin typeface="Calibri"/>
              </a:rPr>
              <a:t>PAID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87568" y="2368296"/>
            <a:ext cx="3182112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687568" y="2834640"/>
            <a:ext cx="3182112" cy="9144"/>
          </a:xfrm>
          <a:prstGeom prst="rect">
            <a:avLst/>
          </a:prstGeom>
          <a:solidFill>
            <a:srgbClr val="DE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815583" y="2404872"/>
            <a:ext cx="2163836" cy="201168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000" b="1" i="0">
                <a:solidFill>
                  <a:srgbClr val="1D3D62"/>
                </a:solidFill>
                <a:latin typeface="Calibri"/>
              </a:rPr>
              <a:t>PI/WESCH/2026/003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15583" y="2606040"/>
            <a:ext cx="2163836" cy="16459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800" b="0" i="0">
                <a:solidFill>
                  <a:srgbClr val="657B90"/>
                </a:solidFill>
                <a:latin typeface="Calibri"/>
              </a:rPr>
              <a:t>Stage 3 — DD · ₹15,74,250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28431" y="2478024"/>
            <a:ext cx="749808" cy="237744"/>
          </a:xfrm>
          <a:prstGeom prst="rect">
            <a:avLst/>
          </a:prstGeom>
          <a:solidFill>
            <a:srgbClr val="FBF3E1"/>
          </a:solidFill>
          <a:ln w="635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28431" y="2478024"/>
            <a:ext cx="749808" cy="237744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800" b="1" i="0">
                <a:solidFill>
                  <a:srgbClr val="B07D1A"/>
                </a:solidFill>
                <a:latin typeface="Calibri"/>
              </a:rPr>
              <a:t>SENT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687568" y="2843784"/>
            <a:ext cx="3182112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687568" y="3310128"/>
            <a:ext cx="3182112" cy="9144"/>
          </a:xfrm>
          <a:prstGeom prst="rect">
            <a:avLst/>
          </a:prstGeom>
          <a:solidFill>
            <a:srgbClr val="DE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815583" y="2880360"/>
            <a:ext cx="2163836" cy="201168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000" b="1" i="0">
                <a:solidFill>
                  <a:srgbClr val="1D3D62"/>
                </a:solidFill>
                <a:latin typeface="Calibri"/>
              </a:rPr>
              <a:t>PI/WESCH/2026/004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15583" y="3081528"/>
            <a:ext cx="2163836" cy="16459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800" b="0" i="0">
                <a:solidFill>
                  <a:srgbClr val="657B90"/>
                </a:solidFill>
                <a:latin typeface="Calibri"/>
              </a:rPr>
              <a:t>Stage 4 — WD · Not yet raised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028431" y="2953512"/>
            <a:ext cx="749808" cy="237744"/>
          </a:xfrm>
          <a:prstGeom prst="rect">
            <a:avLst/>
          </a:prstGeom>
          <a:solidFill>
            <a:srgbClr val="F0F2F4"/>
          </a:solidFill>
          <a:ln w="635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028431" y="2953512"/>
            <a:ext cx="749808" cy="237744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800" b="1" i="0">
                <a:solidFill>
                  <a:srgbClr val="657B90"/>
                </a:solidFill>
                <a:latin typeface="Calibri"/>
              </a:rPr>
              <a:t>PENDING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63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" y="201168"/>
            <a:ext cx="5486400" cy="5943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Built-in guardrails.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" y="804672"/>
            <a:ext cx="54864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 i="1">
                <a:solidFill>
                  <a:srgbClr val="9AAABA"/>
                </a:solidFill>
                <a:latin typeface="Calibri"/>
              </a:rPr>
              <a:t>Not every system needs a human to prevent every mistake. Some should be structurally impossible.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164592" y="1353312"/>
            <a:ext cx="4315968" cy="960120"/>
          </a:xfrm>
          <a:prstGeom prst="rect">
            <a:avLst/>
          </a:prstGeom>
          <a:solidFill>
            <a:srgbClr val="2D4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64592" y="1353312"/>
            <a:ext cx="45720" cy="9601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408176"/>
            <a:ext cx="4169663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🔐  Preview before every external send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664208"/>
            <a:ext cx="4169663" cy="5943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9AAABA"/>
                </a:solidFill>
                <a:latin typeface="Calibri"/>
              </a:rPr>
              <a:t>MOMs, NCR notices, vendor payments — a confirmation step with expected total shows what will happen before it does.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1353312"/>
            <a:ext cx="4315968" cy="960120"/>
          </a:xfrm>
          <a:prstGeom prst="rect">
            <a:avLst/>
          </a:prstGeom>
          <a:solidFill>
            <a:srgbClr val="2D4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63440" y="1353312"/>
            <a:ext cx="45720" cy="9601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73168" y="1408176"/>
            <a:ext cx="4169663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📒  Audit log — every action, every user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73168" y="1664208"/>
            <a:ext cx="4169663" cy="5943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9AAABA"/>
                </a:solidFill>
                <a:latin typeface="Calibri"/>
              </a:rPr>
              <a:t>Who approved, when, from which IP. Anomaly acknowledgements, MOM unlocks, client receipt recordings — all permanently logged.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4592" y="2450592"/>
            <a:ext cx="4315968" cy="960120"/>
          </a:xfrm>
          <a:prstGeom prst="rect">
            <a:avLst/>
          </a:prstGeom>
          <a:solidFill>
            <a:srgbClr val="2D4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64592" y="2450592"/>
            <a:ext cx="45720" cy="9601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2505456"/>
            <a:ext cx="4169663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🔒  Role-permission governance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2761488"/>
            <a:ext cx="4169663" cy="5943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9AAABA"/>
                </a:solidFill>
                <a:latin typeface="Calibri"/>
              </a:rPr>
              <a:t>318 backend routes across 15 roles. Permission matrix defines who can do what — not buried in code. Pre-delivery scanner validates gates on every build.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63440" y="2450592"/>
            <a:ext cx="4315968" cy="960120"/>
          </a:xfrm>
          <a:prstGeom prst="rect">
            <a:avLst/>
          </a:prstGeom>
          <a:solidFill>
            <a:srgbClr val="2D4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663440" y="2450592"/>
            <a:ext cx="45720" cy="9601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73168" y="2505456"/>
            <a:ext cx="4169663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🧾  Client master guard on PI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73168" y="2761488"/>
            <a:ext cx="4169663" cy="5943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9AAABA"/>
                </a:solidFill>
                <a:latin typeface="Calibri"/>
              </a:rPr>
              <a:t>No PI can be raised until GSTIN and Tally ledger are set. Wrong GSTIN on a tax invoice is not a recoverable error.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4592" y="3547872"/>
            <a:ext cx="4315968" cy="960120"/>
          </a:xfrm>
          <a:prstGeom prst="rect">
            <a:avLst/>
          </a:prstGeom>
          <a:solidFill>
            <a:srgbClr val="2D4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64592" y="3547872"/>
            <a:ext cx="45720" cy="9601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3602736"/>
            <a:ext cx="4169663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⚙️  Optimistic locking on critical records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3858768"/>
            <a:ext cx="4169663" cy="5943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9AAABA"/>
                </a:solidFill>
                <a:latin typeface="Calibri"/>
              </a:rPr>
              <a:t>Two people cannot simultaneously approve the same payment or MOM. The second save detects the conflict and rejects it.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63440" y="3547872"/>
            <a:ext cx="4315968" cy="960120"/>
          </a:xfrm>
          <a:prstGeom prst="rect">
            <a:avLst/>
          </a:prstGeom>
          <a:solidFill>
            <a:srgbClr val="2D4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663440" y="3547872"/>
            <a:ext cx="45720" cy="9601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73168" y="3602736"/>
            <a:ext cx="4169663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🔄  Two-step all irreversible actions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73168" y="3858768"/>
            <a:ext cx="4169663" cy="5943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9AAABA"/>
                </a:solidFill>
                <a:latin typeface="Calibri"/>
              </a:rPr>
              <a:t>ICICI payment file, vendor NCR notice, MOM to client — all split into preview → confirm with typed code. No single-click disasters.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63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" y="128016"/>
            <a:ext cx="4572000" cy="8046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WhatsApp — where your team already 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" y="969264"/>
            <a:ext cx="4480560" cy="42062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1">
                <a:solidFill>
                  <a:srgbClr val="9AAABA"/>
                </a:solidFill>
                <a:latin typeface="Calibri"/>
              </a:rPr>
              <a:t>No app to install. No separate login for the field team.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" y="1463040"/>
            <a:ext cx="4434840" cy="36576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r>
              <a:rPr sz="1000">
                <a:solidFill>
                  <a:srgbClr val="9AAABA"/>
                </a:solidFill>
                <a:latin typeface="Calibri"/>
              </a:rPr>
              <a:t>• Payment confirmations sent to vendors the moment UTR is applied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" y="1810512"/>
            <a:ext cx="4434840" cy="36576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r>
              <a:rPr sz="1000">
                <a:solidFill>
                  <a:srgbClr val="9AAABA"/>
                </a:solidFill>
                <a:latin typeface="Calibri"/>
              </a:rPr>
              <a:t>• Site manager gets task-rejection notice with reason — not a vague call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" y="2157984"/>
            <a:ext cx="4434840" cy="36576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r>
              <a:rPr sz="1000">
                <a:solidFill>
                  <a:srgbClr val="9AAABA"/>
                </a:solidFill>
                <a:latin typeface="Calibri"/>
              </a:rPr>
              <a:t>• Client receives MOM preview; their reply is captured as acknowledgement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" y="2505456"/>
            <a:ext cx="4434840" cy="36576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r>
              <a:rPr sz="1000">
                <a:solidFill>
                  <a:srgbClr val="9AAABA"/>
                </a:solidFill>
                <a:latin typeface="Calibri"/>
              </a:rPr>
              <a:t>• NCR notice to vendor links the GRN reference and required rectification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" y="2852927"/>
            <a:ext cx="4434840" cy="36576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r>
              <a:rPr sz="1000">
                <a:solidFill>
                  <a:srgbClr val="9AAABA"/>
                </a:solidFill>
                <a:latin typeface="Calibri"/>
              </a:rPr>
              <a:t>• Drawing issued to site — notification with revision number and category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" y="3200399"/>
            <a:ext cx="4434840" cy="36576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r>
              <a:rPr sz="1000">
                <a:solidFill>
                  <a:srgbClr val="9AAABA"/>
                </a:solidFill>
                <a:latin typeface="Calibri"/>
              </a:rPr>
              <a:t>• Finance admin gets a task when a new stub client needs master completion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3547871"/>
            <a:ext cx="4434840" cy="36576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r>
              <a:rPr sz="1000">
                <a:solidFill>
                  <a:srgbClr val="9AAABA"/>
                </a:solidFill>
                <a:latin typeface="Calibri"/>
              </a:rPr>
              <a:t>• All notifications go through a delivery log — sent, delivered, read, failed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50992" y="283464"/>
            <a:ext cx="3255264" cy="4645152"/>
          </a:xfrm>
          <a:prstGeom prst="rect">
            <a:avLst/>
          </a:prstGeom>
          <a:solidFill>
            <a:srgbClr val="F4F6F9"/>
          </a:solidFill>
          <a:ln w="635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87568" y="320040"/>
            <a:ext cx="3182112" cy="4572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87568" y="320040"/>
            <a:ext cx="3182112" cy="384048"/>
          </a:xfrm>
          <a:prstGeom prst="rect">
            <a:avLst/>
          </a:prstGeom>
          <a:solidFill>
            <a:srgbClr val="1D3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97296" y="393192"/>
            <a:ext cx="2999232" cy="25603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💬  nu PMC Alerts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79007" y="704088"/>
            <a:ext cx="2999232" cy="6858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70448" y="740664"/>
            <a:ext cx="2816352" cy="1828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900" b="1" i="0">
                <a:solidFill>
                  <a:srgbClr val="1D3D62"/>
                </a:solidFill>
                <a:latin typeface="Calibri"/>
              </a:rPr>
              <a:t>✅  Payment confirmed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70448" y="914400"/>
            <a:ext cx="2816352" cy="173736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800" b="0" i="0">
                <a:solidFill>
                  <a:srgbClr val="657B90"/>
                </a:solidFill>
                <a:latin typeface="Calibri"/>
              </a:rPr>
              <a:t>Vendor: Shri Tiles  · ₹2,18,450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70448" y="1088136"/>
            <a:ext cx="2816352" cy="173736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800" b="0" i="0">
                <a:solidFill>
                  <a:srgbClr val="657B90"/>
                </a:solidFill>
                <a:latin typeface="Calibri"/>
              </a:rPr>
              <a:t>UTR: 826100012345  · WESCH Phase 01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79007" y="1444752"/>
            <a:ext cx="2999232" cy="6858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70448" y="1481328"/>
            <a:ext cx="2816352" cy="1828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900" b="1" i="0">
                <a:solidFill>
                  <a:srgbClr val="1D3D62"/>
                </a:solidFill>
                <a:latin typeface="Calibri"/>
              </a:rPr>
              <a:t>📋  MOM-043 sent to client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70448" y="1655064"/>
            <a:ext cx="2816352" cy="173736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800" b="0" i="0">
                <a:solidFill>
                  <a:srgbClr val="657B90"/>
                </a:solidFill>
                <a:latin typeface="Calibri"/>
              </a:rPr>
              <a:t>S.P. Mandali — WeSchool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70448" y="1828800"/>
            <a:ext cx="2816352" cy="173736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800" b="0" i="0">
                <a:solidFill>
                  <a:srgbClr val="657B90"/>
                </a:solidFill>
                <a:latin typeface="Calibri"/>
              </a:rPr>
              <a:t>Please reply YES to acknowledge.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79007" y="2185416"/>
            <a:ext cx="2999232" cy="685800"/>
          </a:xfrm>
          <a:prstGeom prst="rect">
            <a:avLst/>
          </a:prstGeom>
          <a:solidFill>
            <a:srgbClr val="FD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70448" y="2221992"/>
            <a:ext cx="2816352" cy="1828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900" b="1" i="0">
                <a:solidFill>
                  <a:srgbClr val="1D3D62"/>
                </a:solidFill>
                <a:latin typeface="Calibri"/>
              </a:rPr>
              <a:t>⚠️  Drawing query open 3+ days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70448" y="2395728"/>
            <a:ext cx="2816352" cy="173736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800" b="0" i="0">
                <a:solidFill>
                  <a:srgbClr val="657B90"/>
                </a:solidFill>
                <a:latin typeface="Calibri"/>
              </a:rPr>
              <a:t>WESCH-S-003 R0 · Grid B offset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70448" y="2569464"/>
            <a:ext cx="2816352" cy="173736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800" b="0" i="0">
                <a:solidFill>
                  <a:srgbClr val="657B90"/>
                </a:solidFill>
                <a:latin typeface="Calibri"/>
              </a:rPr>
              <a:t>No response from design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779007" y="2926080"/>
            <a:ext cx="2999232" cy="6858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870448" y="2962656"/>
            <a:ext cx="2816352" cy="1828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900" b="1" i="0">
                <a:solidFill>
                  <a:srgbClr val="1D3D62"/>
                </a:solidFill>
                <a:latin typeface="Calibri"/>
              </a:rPr>
              <a:t>🆕  New client stub created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70448" y="3136392"/>
            <a:ext cx="2816352" cy="173736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800" b="0" i="0">
                <a:solidFill>
                  <a:srgbClr val="657B90"/>
                </a:solidFill>
                <a:latin typeface="Calibri"/>
              </a:rPr>
              <a:t>Acme Industries Pvt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70448" y="3310128"/>
            <a:ext cx="2816352" cy="173736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800" b="0" i="0">
                <a:solidFill>
                  <a:srgbClr val="657B90"/>
                </a:solidFill>
                <a:latin typeface="Calibri"/>
              </a:rPr>
              <a:t>Complete master before first PI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eckv2_bg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63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" y="182880"/>
            <a:ext cx="6400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By the numbers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" y="749808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 i="1">
                <a:solidFill>
                  <a:srgbClr val="9AAABA"/>
                </a:solidFill>
                <a:latin typeface="Calibri"/>
              </a:rPr>
              <a:t>These are engineering facts, not marketing claims.</a:t>
            </a:r>
          </a:p>
        </p:txBody>
      </p:sp>
      <p:sp>
        <p:nvSpPr>
          <p:cNvPr id="6" name="Rectangle 5"/>
          <p:cNvSpPr/>
          <p:nvPr/>
        </p:nvSpPr>
        <p:spPr>
          <a:xfrm>
            <a:off x="164592" y="1170432"/>
            <a:ext cx="2743200" cy="1508760"/>
          </a:xfrm>
          <a:prstGeom prst="rect">
            <a:avLst/>
          </a:prstGeom>
          <a:solidFill>
            <a:srgbClr val="2D4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64592" y="1170432"/>
            <a:ext cx="2743200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1751" y="1307592"/>
            <a:ext cx="2468880" cy="6583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5200" b="1" i="0">
                <a:solidFill>
                  <a:srgbClr val="C9A84C"/>
                </a:solidFill>
                <a:latin typeface="Calibri"/>
              </a:rPr>
              <a:t>318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" y="1975104"/>
            <a:ext cx="25603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1" i="0">
                <a:solidFill>
                  <a:srgbClr val="C9A84C"/>
                </a:solidFill>
                <a:latin typeface="Calibri"/>
              </a:rPr>
              <a:t>Backend API routes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" y="2267712"/>
            <a:ext cx="25603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0" i="0">
                <a:solidFill>
                  <a:srgbClr val="9AAABA"/>
                </a:solidFill>
                <a:latin typeface="Calibri"/>
              </a:rPr>
              <a:t>scanner-validated on every build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27248" y="1170432"/>
            <a:ext cx="2743200" cy="1508760"/>
          </a:xfrm>
          <a:prstGeom prst="rect">
            <a:avLst/>
          </a:prstGeom>
          <a:solidFill>
            <a:srgbClr val="2D4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127248" y="1170432"/>
            <a:ext cx="2743200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64408" y="1307592"/>
            <a:ext cx="2468880" cy="6583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  <a:latin typeface="Calibri"/>
              </a:rPr>
              <a:t>124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18688" y="1975104"/>
            <a:ext cx="25603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1" i="0">
                <a:solidFill>
                  <a:srgbClr val="C9A84C"/>
                </a:solidFill>
                <a:latin typeface="Calibri"/>
              </a:rPr>
              <a:t>Automated tests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18688" y="2267712"/>
            <a:ext cx="25603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0" i="0">
                <a:solidFill>
                  <a:srgbClr val="9AAABA"/>
                </a:solidFill>
                <a:latin typeface="Calibri"/>
              </a:rPr>
              <a:t>integration, not just unit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9048" y="1170432"/>
            <a:ext cx="2743200" cy="1508760"/>
          </a:xfrm>
          <a:prstGeom prst="rect">
            <a:avLst/>
          </a:prstGeom>
          <a:solidFill>
            <a:srgbClr val="2D4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99048" y="1170432"/>
            <a:ext cx="2743200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36208" y="1307592"/>
            <a:ext cx="2468880" cy="6583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  <a:latin typeface="Calibri"/>
              </a:rPr>
              <a:t>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90488" y="1975104"/>
            <a:ext cx="25603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1" i="0">
                <a:solidFill>
                  <a:srgbClr val="C9A84C"/>
                </a:solidFill>
                <a:latin typeface="Calibri"/>
              </a:rPr>
              <a:t>User roles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90488" y="2267712"/>
            <a:ext cx="25603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0" i="0">
                <a:solidFill>
                  <a:srgbClr val="9AAABA"/>
                </a:solidFill>
                <a:latin typeface="Calibri"/>
              </a:rPr>
              <a:t>from trainee to principal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64592" y="2834640"/>
            <a:ext cx="2743200" cy="1508760"/>
          </a:xfrm>
          <a:prstGeom prst="rect">
            <a:avLst/>
          </a:prstGeom>
          <a:solidFill>
            <a:srgbClr val="2D4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64592" y="2834640"/>
            <a:ext cx="2743200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01751" y="2971800"/>
            <a:ext cx="2468880" cy="6583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6032" y="3639312"/>
            <a:ext cx="25603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1" i="0">
                <a:solidFill>
                  <a:srgbClr val="C9A84C"/>
                </a:solidFill>
                <a:latin typeface="Calibri"/>
              </a:rPr>
              <a:t>External-send guardrails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6032" y="3931920"/>
            <a:ext cx="25603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0" i="0">
                <a:solidFill>
                  <a:srgbClr val="9AAABA"/>
                </a:solidFill>
                <a:latin typeface="Calibri"/>
              </a:rPr>
              <a:t>preview → confirm → audit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27248" y="2834640"/>
            <a:ext cx="2743200" cy="1508760"/>
          </a:xfrm>
          <a:prstGeom prst="rect">
            <a:avLst/>
          </a:prstGeom>
          <a:solidFill>
            <a:srgbClr val="2D4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127248" y="2834640"/>
            <a:ext cx="2743200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64408" y="2971800"/>
            <a:ext cx="2468880" cy="6583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  <a:latin typeface="Calibri"/>
              </a:rPr>
              <a:t>16+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18688" y="3639312"/>
            <a:ext cx="25603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1" i="0">
                <a:solidFill>
                  <a:srgbClr val="C9A84C"/>
                </a:solidFill>
                <a:latin typeface="Calibri"/>
              </a:rPr>
              <a:t>Tracked modules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18688" y="3931920"/>
            <a:ext cx="25603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0" i="0">
                <a:solidFill>
                  <a:srgbClr val="9AAABA"/>
                </a:solidFill>
                <a:latin typeface="Calibri"/>
              </a:rPr>
              <a:t>design to DLP closeout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99048" y="2834640"/>
            <a:ext cx="2743200" cy="1508760"/>
          </a:xfrm>
          <a:prstGeom prst="rect">
            <a:avLst/>
          </a:prstGeom>
          <a:solidFill>
            <a:srgbClr val="2D4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9048" y="2834640"/>
            <a:ext cx="2743200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36208" y="2971800"/>
            <a:ext cx="2468880" cy="6583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  <a:latin typeface="Calibri"/>
              </a:rPr>
              <a:t>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90488" y="3639312"/>
            <a:ext cx="25603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1" i="0">
                <a:solidFill>
                  <a:srgbClr val="C9A84C"/>
                </a:solidFill>
                <a:latin typeface="Calibri"/>
              </a:rPr>
              <a:t>Single-click disasters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90488" y="3931920"/>
            <a:ext cx="25603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0" i="0">
                <a:solidFill>
                  <a:srgbClr val="9AAABA"/>
                </a:solidFill>
                <a:latin typeface="Calibri"/>
              </a:rPr>
              <a:t>all irreversible actions two-step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eckv2_bg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